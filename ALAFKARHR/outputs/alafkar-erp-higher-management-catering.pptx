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411a293a2942b7" /><Relationship Type="http://schemas.openxmlformats.org/officeDocument/2006/relationships/extended-properties" Target="/docProps/app.xml" Id="R788aa783e3a94fcf" /><Relationship Type="http://schemas.openxmlformats.org/officeDocument/2006/relationships/officeDocument" Target="/ppt/presentation.xml" Id="R9529d8fa7f6b44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771b166017437c"/>
  </p:sldMasterIdLst>
  <p:notesMasterIdLst>
    <p:notesMasterId xmlns:r="http://schemas.openxmlformats.org/officeDocument/2006/relationships" r:id="Ra364d752e97b4291"/>
  </p:notesMasterIdLst>
  <p:sldIdLst>
    <p:sldId xmlns:r="http://schemas.openxmlformats.org/officeDocument/2006/relationships" id="256" r:id="R8a1dde9515964d2d"/>
    <p:sldId xmlns:r="http://schemas.openxmlformats.org/officeDocument/2006/relationships" id="257" r:id="R3397e4f9a9f64ee9"/>
    <p:sldId xmlns:r="http://schemas.openxmlformats.org/officeDocument/2006/relationships" id="258" r:id="Rcf3c84a789254091"/>
    <p:sldId xmlns:r="http://schemas.openxmlformats.org/officeDocument/2006/relationships" id="259" r:id="Rc40c0bffa5ae47ca"/>
    <p:sldId xmlns:r="http://schemas.openxmlformats.org/officeDocument/2006/relationships" id="260" r:id="R35a7a8b07616444e"/>
    <p:sldId xmlns:r="http://schemas.openxmlformats.org/officeDocument/2006/relationships" id="261" r:id="R73307c1c18e74492"/>
    <p:sldId xmlns:r="http://schemas.openxmlformats.org/officeDocument/2006/relationships" id="262" r:id="R792d3a8f4fbd4ab1"/>
    <p:sldId xmlns:r="http://schemas.openxmlformats.org/officeDocument/2006/relationships" id="263" r:id="R3f027c73673c410d"/>
    <p:sldId xmlns:r="http://schemas.openxmlformats.org/officeDocument/2006/relationships" id="264" r:id="R5bd608525ef74a42"/>
    <p:sldId xmlns:r="http://schemas.openxmlformats.org/officeDocument/2006/relationships" id="265" r:id="R9f6636df013a4cd4"/>
    <p:sldId xmlns:r="http://schemas.openxmlformats.org/officeDocument/2006/relationships" id="266" r:id="Rbe1772a9d5894e1a"/>
    <p:sldId xmlns:r="http://schemas.openxmlformats.org/officeDocument/2006/relationships" id="267" r:id="R7e27592606774646"/>
    <p:sldId xmlns:r="http://schemas.openxmlformats.org/officeDocument/2006/relationships" id="268" r:id="Rcf71f611f7ed467e"/>
    <p:sldId xmlns:r="http://schemas.openxmlformats.org/officeDocument/2006/relationships" id="269" r:id="Rb2c228426ada4eec"/>
    <p:sldId xmlns:r="http://schemas.openxmlformats.org/officeDocument/2006/relationships" id="270" r:id="Rcf234840a55d45ff"/>
    <p:sldId xmlns:r="http://schemas.openxmlformats.org/officeDocument/2006/relationships" id="271" r:id="R4b90f52937d545aa"/>
    <p:sldId xmlns:r="http://schemas.openxmlformats.org/officeDocument/2006/relationships" id="272" r:id="R577be6c415b64b5a"/>
    <p:sldId xmlns:r="http://schemas.openxmlformats.org/officeDocument/2006/relationships" id="273" r:id="R32906abd5bfa4123"/>
    <p:sldId xmlns:r="http://schemas.openxmlformats.org/officeDocument/2006/relationships" id="274" r:id="R4e13d00e78df4f3a"/>
    <p:sldId xmlns:r="http://schemas.openxmlformats.org/officeDocument/2006/relationships" id="275" r:id="Rc6befb2b331e42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aabfc6e6fe4551" /><Relationship Type="http://schemas.openxmlformats.org/officeDocument/2006/relationships/slideMaster" Target="/ppt/slideMasters/slideMaster1.xml" Id="R67771b166017437c" /><Relationship Type="http://schemas.openxmlformats.org/officeDocument/2006/relationships/notesMaster" Target="/ppt/notesMasters/notesMaster1.xml" Id="Ra364d752e97b4291" /><Relationship Type="http://schemas.openxmlformats.org/officeDocument/2006/relationships/presProps" Target="/ppt/presProps.xml" Id="R0430a620d2954475" /><Relationship Type="http://schemas.openxmlformats.org/officeDocument/2006/relationships/tableStyles" Target="/ppt/tableStyles.xml" Id="R75d2f30bed754ba8" /><Relationship Type="http://schemas.openxmlformats.org/officeDocument/2006/relationships/slide" Target="/ppt/slides/slide1.xml" Id="R8a1dde9515964d2d" /><Relationship Type="http://schemas.openxmlformats.org/officeDocument/2006/relationships/slide" Target="/ppt/slides/slide2.xml" Id="R3397e4f9a9f64ee9" /><Relationship Type="http://schemas.openxmlformats.org/officeDocument/2006/relationships/slide" Target="/ppt/slides/slide3.xml" Id="Rcf3c84a789254091" /><Relationship Type="http://schemas.openxmlformats.org/officeDocument/2006/relationships/slide" Target="/ppt/slides/slide4.xml" Id="Rc40c0bffa5ae47ca" /><Relationship Type="http://schemas.openxmlformats.org/officeDocument/2006/relationships/slide" Target="/ppt/slides/slide5.xml" Id="R35a7a8b07616444e" /><Relationship Type="http://schemas.openxmlformats.org/officeDocument/2006/relationships/slide" Target="/ppt/slides/slide6.xml" Id="R73307c1c18e74492" /><Relationship Type="http://schemas.openxmlformats.org/officeDocument/2006/relationships/slide" Target="/ppt/slides/slide7.xml" Id="R792d3a8f4fbd4ab1" /><Relationship Type="http://schemas.openxmlformats.org/officeDocument/2006/relationships/slide" Target="/ppt/slides/slide8.xml" Id="R3f027c73673c410d" /><Relationship Type="http://schemas.openxmlformats.org/officeDocument/2006/relationships/slide" Target="/ppt/slides/slide9.xml" Id="R5bd608525ef74a42" /><Relationship Type="http://schemas.openxmlformats.org/officeDocument/2006/relationships/slide" Target="/ppt/slides/slide10.xml" Id="R9f6636df013a4cd4" /><Relationship Type="http://schemas.openxmlformats.org/officeDocument/2006/relationships/slide" Target="/ppt/slides/slide11.xml" Id="Rbe1772a9d5894e1a" /><Relationship Type="http://schemas.openxmlformats.org/officeDocument/2006/relationships/slide" Target="/ppt/slides/slide12.xml" Id="R7e27592606774646" /><Relationship Type="http://schemas.openxmlformats.org/officeDocument/2006/relationships/slide" Target="/ppt/slides/slide13.xml" Id="Rcf71f611f7ed467e" /><Relationship Type="http://schemas.openxmlformats.org/officeDocument/2006/relationships/slide" Target="/ppt/slides/slide14.xml" Id="Rb2c228426ada4eec" /><Relationship Type="http://schemas.openxmlformats.org/officeDocument/2006/relationships/slide" Target="/ppt/slides/slide15.xml" Id="Rcf234840a55d45ff" /><Relationship Type="http://schemas.openxmlformats.org/officeDocument/2006/relationships/slide" Target="/ppt/slides/slide16.xml" Id="R4b90f52937d545aa" /><Relationship Type="http://schemas.openxmlformats.org/officeDocument/2006/relationships/slide" Target="/ppt/slides/slide17.xml" Id="R577be6c415b64b5a" /><Relationship Type="http://schemas.openxmlformats.org/officeDocument/2006/relationships/slide" Target="/ppt/slides/slide18.xml" Id="R32906abd5bfa4123" /><Relationship Type="http://schemas.openxmlformats.org/officeDocument/2006/relationships/slide" Target="/ppt/slides/slide19.xml" Id="R4e13d00e78df4f3a" /><Relationship Type="http://schemas.openxmlformats.org/officeDocument/2006/relationships/slide" Target="/ppt/slides/slide20.xml" Id="Rc6befb2b331e42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8e92febd534e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49b2b609824097" /><Relationship Type="http://schemas.openxmlformats.org/officeDocument/2006/relationships/notesMaster" Target="/ppt/notesMasters/notesMaster1.xml" Id="Rf35b4f6c5ba64b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2dda67422a4448" /><Relationship Type="http://schemas.openxmlformats.org/officeDocument/2006/relationships/notesMaster" Target="/ppt/notesMasters/notesMaster1.xml" Id="R6f7d1f69a72845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97f589ce6441c4" /><Relationship Type="http://schemas.openxmlformats.org/officeDocument/2006/relationships/notesMaster" Target="/ppt/notesMasters/notesMaster1.xml" Id="R56654d0e4b8645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8a3fd0200946e1" /><Relationship Type="http://schemas.openxmlformats.org/officeDocument/2006/relationships/notesMaster" Target="/ppt/notesMasters/notesMaster1.xml" Id="R2e4e8b47f4c94d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9ab3ce6f6c4ed9" /><Relationship Type="http://schemas.openxmlformats.org/officeDocument/2006/relationships/notesMaster" Target="/ppt/notesMasters/notesMaster1.xml" Id="Rca2a7580902c4a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6a388aa45040f6" /><Relationship Type="http://schemas.openxmlformats.org/officeDocument/2006/relationships/notesMaster" Target="/ppt/notesMasters/notesMaster1.xml" Id="R00886a83f3694c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7fc31bde9f4bd6" /><Relationship Type="http://schemas.openxmlformats.org/officeDocument/2006/relationships/notesMaster" Target="/ppt/notesMasters/notesMaster1.xml" Id="Re733fac520724a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e55831d0f240f3" /><Relationship Type="http://schemas.openxmlformats.org/officeDocument/2006/relationships/notesMaster" Target="/ppt/notesMasters/notesMaster1.xml" Id="Rc83fa7a7b66345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1d19f6dae74f51" /><Relationship Type="http://schemas.openxmlformats.org/officeDocument/2006/relationships/notesMaster" Target="/ppt/notesMasters/notesMaster1.xml" Id="Rd1f4c437fdba40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683e2dad094ea2" /><Relationship Type="http://schemas.openxmlformats.org/officeDocument/2006/relationships/notesMaster" Target="/ppt/notesMasters/notesMaster1.xml" Id="R2b37dc6b43684b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e8187a8316466f" /><Relationship Type="http://schemas.openxmlformats.org/officeDocument/2006/relationships/notesMaster" Target="/ppt/notesMasters/notesMaster1.xml" Id="R149dc51f88c94d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e69048aafd4742" /><Relationship Type="http://schemas.openxmlformats.org/officeDocument/2006/relationships/notesMaster" Target="/ppt/notesMasters/notesMaster1.xml" Id="R045b978c3f2542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17c7b8ad654262" /><Relationship Type="http://schemas.openxmlformats.org/officeDocument/2006/relationships/notesMaster" Target="/ppt/notesMasters/notesMaster1.xml" Id="R5919e5725bb441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390688043c490b" /><Relationship Type="http://schemas.openxmlformats.org/officeDocument/2006/relationships/notesMaster" Target="/ppt/notesMasters/notesMaster1.xml" Id="R30d95c517b2548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6d0aa5f5a2488f" /><Relationship Type="http://schemas.openxmlformats.org/officeDocument/2006/relationships/notesMaster" Target="/ppt/notesMasters/notesMaster1.xml" Id="Rc98bbeecfe9e4cb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2cc325b7fc4827" /><Relationship Type="http://schemas.openxmlformats.org/officeDocument/2006/relationships/notesMaster" Target="/ppt/notesMasters/notesMaster1.xml" Id="Rc3c6ca7adc864d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af1f635615247c7" /><Relationship Type="http://schemas.openxmlformats.org/officeDocument/2006/relationships/notesMaster" Target="/ppt/notesMasters/notesMaster1.xml" Id="Ra27d4fa38d9449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442d9efccb5468b" /><Relationship Type="http://schemas.openxmlformats.org/officeDocument/2006/relationships/notesMaster" Target="/ppt/notesMasters/notesMaster1.xml" Id="R1fd4ada44a4e481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3afbd1859c24059" /><Relationship Type="http://schemas.openxmlformats.org/officeDocument/2006/relationships/notesMaster" Target="/ppt/notesMasters/notesMaster1.xml" Id="Rf4c94aaba74844d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ed580e1dccf4204" /><Relationship Type="http://schemas.openxmlformats.org/officeDocument/2006/relationships/notesMaster" Target="/ppt/notesMasters/notesMaster1.xml" Id="R000b94e9ebfc4b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positioning the session as a management discussion, not a technical demo.</a:t>
            </a:r>
          </a:p>
          <a:p xmlns:a="http://schemas.openxmlformats.org/drawingml/2006/main">
            <a:r>
              <a:t>Say: Today we will start with the ERP concept, then focus on how AlAfkar ERP supports the company with Catering as the main operating story.</a:t>
            </a:r>
          </a:p>
          <a:p xmlns:a="http://schemas.openxmlformats.org/drawingml/2006/main">
            <a:r>
              <a:t>Set expectation: We will not show every button. We will show how the system improves control, visibility, and accountability.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reassure management that the session is structured and time-bound.</a:t>
            </a:r>
          </a:p>
          <a:p xmlns:a="http://schemas.openxmlformats.org/drawingml/2006/main">
            <a:r>
              <a:t>Mention that the walkthrough is intentionally Catering-first because that is the company’s primary business 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integrated operating system for the company.</a:t>
            </a:r>
          </a:p>
          <a:p xmlns:a="http://schemas.openxmlformats.org/drawingml/2006/main">
            <a:r>
              <a:t>ERP connects operations, finance, people, assets, documents, and reporting so management works from one controlled source of truth.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Scattered information: Call out that visibility is a management issue, not an IT preference.</a:t>
            </a:r>
          </a:p>
          <a:p xmlns:a="http://schemas.openxmlformats.org/drawingml/2006/main">
            <a:r>
              <a:t>Manual follow-up: Manual follow-up creates risk as volume grows.</a:t>
            </a:r>
          </a:p>
          <a:p xmlns:a="http://schemas.openxmlformats.org/drawingml/2006/main">
            <a:r>
              <a:t>Different ways of working: ERP standardizes the workflow without removing accountability.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source of truth: Use the phrase one version of the truth.</a:t>
            </a:r>
          </a:p>
          <a:p xmlns:a="http://schemas.openxmlformats.org/drawingml/2006/main">
            <a:r>
              <a:t>Workflow accountability: Tie this to accountability and auditability.</a:t>
            </a:r>
          </a:p>
          <a:p xmlns:a="http://schemas.openxmlformats.org/drawingml/2006/main">
            <a:r>
              <a:t>Scalable structure: This introduces the business-lines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dedicated five-minute business-lines setup.</a:t>
            </a:r>
          </a:p>
          <a:p xmlns:a="http://schemas.openxmlformats.org/drawingml/2006/main">
            <a:r>
              <a:t>Stress that Catering is the main operating line, but it benefits from shared finance, people, procurement, fleet, documents, and security foundations.</a:t>
            </a:r>
          </a:p>
          <a:p xmlns:a="http://schemas.openxmlformats.org/drawingml/2006/main">
            <a:r>
              <a:t>Position the other business lines as scalable extensions, not distractions from the Catering 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Catering is a daily execution business.</a:t>
            </a:r>
          </a:p>
          <a:p xmlns:a="http://schemas.openxmlformats.org/drawingml/2006/main">
            <a:r>
              <a:t>Contracts, meal planning, locations, schedules, deliveries, assignments, quantities, and variances must stay visible every 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Catering walkthrough as an operating cycle.</a:t>
            </a:r>
          </a:p>
          <a:p xmlns:a="http://schemas.openxmlformats.org/drawingml/2006/main">
            <a:r>
              <a:t>The key idea: the system does not only store Catering records; it helps manage daily commitments, quantities, staff, vehicles, and exceptions.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the live demo with Organization and Security only briefly.</a:t>
            </a:r>
          </a:p>
          <a:p xmlns:a="http://schemas.openxmlformats.org/drawingml/2006/main">
            <a:r>
              <a:t>Make the point that access control protects business data and keeps users focused.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Catering dashboard in the live system.</a:t>
            </a:r>
          </a:p>
          <a:p xmlns:a="http://schemas.openxmlformats.org/drawingml/2006/main">
            <a:r>
              <a:t>Talk about management visibility rather than technical widgets.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Catering Contracts.</a:t>
            </a:r>
          </a:p>
          <a:p xmlns:a="http://schemas.openxmlformats.org/drawingml/2006/main">
            <a:r>
              <a:t>Explain that good operations start from controlled commitments, not disconnected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Meals.</a:t>
            </a:r>
          </a:p>
          <a:p xmlns:a="http://schemas.openxmlformats.org/drawingml/2006/main">
            <a:r>
              <a:t>Keep this slide short: meals are the planning object that connects contract demand to daily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Catering Locations.</a:t>
            </a:r>
          </a:p>
          <a:p xmlns:a="http://schemas.openxmlformats.org/drawingml/2006/main">
            <a:r>
              <a:t>Explain why location-level visibility matters for field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Spend meaningful live-demo time here.</a:t>
            </a:r>
          </a:p>
          <a:p xmlns:a="http://schemas.openxmlformats.org/drawingml/2006/main">
            <a:r>
              <a:t>This is where management can see daily discipline: plan, execute, record actuals, explain variances.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Deliveries and Assignments.</a:t>
            </a:r>
          </a:p>
          <a:p xmlns:a="http://schemas.openxmlformats.org/drawingml/2006/main">
            <a:r>
              <a:t>Connect this to fleet and HR as supporting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Catering Reports.</a:t>
            </a:r>
          </a:p>
          <a:p xmlns:a="http://schemas.openxmlformats.org/drawingml/2006/main">
            <a:r>
              <a:t>Position reporting as the close of the operating loop, not an afterthought.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Catalog: Products, categories, units, packages, pricing.</a:t>
            </a:r>
          </a:p>
          <a:p xmlns:a="http://schemas.openxmlformats.org/drawingml/2006/main">
            <a:r>
              <a:t>Inventory: Warehouses, batches, stock in/out, reservations, adjustments.</a:t>
            </a:r>
          </a:p>
          <a:p xmlns:a="http://schemas.openxmlformats.org/drawingml/2006/main">
            <a:r>
              <a:t>Procurement: Purchase flow, supplier commitments, goods receipt.</a:t>
            </a:r>
          </a:p>
          <a:p xmlns:a="http://schemas.openxmlformats.org/drawingml/2006/main">
            <a:r>
              <a:t>Suppliers: Supplier records, groups, and purchasing context.</a:t>
            </a:r>
          </a:p>
          <a:p xmlns:a="http://schemas.openxmlformats.org/drawingml/2006/main">
            <a:r>
              <a:t>Controls: Operational quantities become connected to stock movement.</a:t>
            </a:r>
          </a:p>
          <a:p xmlns:a="http://schemas.openxmlformats.org/drawingml/2006/main">
            <a:r>
              <a:t>Outcome: Less manual coordination between Catering, warehouse, and purchasing.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Accounting: Invoices, journals, receipts, payments, tax and ZATCA readiness.</a:t>
            </a:r>
          </a:p>
          <a:p xmlns:a="http://schemas.openxmlformats.org/drawingml/2006/main">
            <a:r>
              <a:t>HR and attendance: Employees, shifts, attendance, leave, payroll.</a:t>
            </a:r>
          </a:p>
          <a:p xmlns:a="http://schemas.openxmlformats.org/drawingml/2006/main">
            <a:r>
              <a:t>Fleet: Vehicles, assignments, expenses, documents, service rules.</a:t>
            </a:r>
          </a:p>
          <a:p xmlns:a="http://schemas.openxmlformats.org/drawingml/2006/main">
            <a:r>
              <a:t>Maintenance: Assets, requests, work orders, costs, reports.</a:t>
            </a:r>
          </a:p>
          <a:p xmlns:a="http://schemas.openxmlformats.org/drawingml/2006/main">
            <a:r>
              <a:t>Documents: Central files linked to operational and source records.</a:t>
            </a:r>
          </a:p>
          <a:p xmlns:a="http://schemas.openxmlformats.org/drawingml/2006/main">
            <a:r>
              <a:t>Tasks: Follow-up work, notifications, boards, and reports.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Catering control: Daily plans, quantities, locations, deliveries, assignments, and variances become visible.</a:t>
            </a:r>
          </a:p>
          <a:p xmlns:a="http://schemas.openxmlformats.org/drawingml/2006/main">
            <a:r>
              <a:t>Shared services: Finance, HR, procurement, stock, fleet, documents, and tasks support the same operating story.</a:t>
            </a:r>
          </a:p>
          <a:p xmlns:a="http://schemas.openxmlformats.org/drawingml/2006/main">
            <a:r>
              <a:t>Management confidence: Roles, permissions, reports, and structured workflows reduce dependency on informal follow-up.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practical ask rather than a generic conclusion.</a:t>
            </a:r>
          </a:p>
          <a:p xmlns:a="http://schemas.openxmlformats.org/drawingml/2006/main">
            <a:r>
              <a:t>Recommended close: The value is not only a set of screens. It is a controlled way to run Catering every day and connect it to finance, people, stock, vehicles, documents, and reporting.</a:t>
            </a:r>
          </a:p>
          <a:p xmlns:a="http://schemas.openxmlformats.org/drawingml/2006/main">
            <a:r>
              <a:t>Ask management to approve the pilot scope and the demo/UAT data preparation.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97eb12c204c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13107b8c2f41e8" /><Relationship Type="http://schemas.openxmlformats.org/officeDocument/2006/relationships/slideLayout" Target="/ppt/slideLayouts/slideLayout1.xml" Id="R299c68f5bbbc41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9c68f5bbbc41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01e6474054949" /><Relationship Type="http://schemas.openxmlformats.org/officeDocument/2006/relationships/notesSlide" Target="/ppt/notesSlides/notesSlide1.xml" Id="R6a93290a48dc41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a0dcdbbaa44d3" /><Relationship Type="http://schemas.openxmlformats.org/officeDocument/2006/relationships/notesSlide" Target="/ppt/notesSlides/notesSlide2.xml" Id="Rb256012b15f945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a70a6c56d4354" /><Relationship Type="http://schemas.openxmlformats.org/officeDocument/2006/relationships/notesSlide" Target="/ppt/notesSlides/notesSlide3.xml" Id="Rf390741691604b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20f93b3ac4bba" /><Relationship Type="http://schemas.openxmlformats.org/officeDocument/2006/relationships/notesSlide" Target="/ppt/notesSlides/notesSlide4.xml" Id="R1e8827d848be4f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1db85c03e4c2b" /><Relationship Type="http://schemas.openxmlformats.org/officeDocument/2006/relationships/notesSlide" Target="/ppt/notesSlides/notesSlide5.xml" Id="R02dda78ba2a34e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fa1a418294fae" /><Relationship Type="http://schemas.openxmlformats.org/officeDocument/2006/relationships/notesSlide" Target="/ppt/notesSlides/notesSlide6.xml" Id="Rcf255d22b4a74f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93fa4bebb4a8c" /><Relationship Type="http://schemas.openxmlformats.org/officeDocument/2006/relationships/notesSlide" Target="/ppt/notesSlides/notesSlide7.xml" Id="R2d14f469b8b44f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fe62cfe844a8e" /><Relationship Type="http://schemas.openxmlformats.org/officeDocument/2006/relationships/notesSlide" Target="/ppt/notesSlides/notesSlide8.xml" Id="R5811cfd43c344d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9c4b3ab434477" /><Relationship Type="http://schemas.openxmlformats.org/officeDocument/2006/relationships/notesSlide" Target="/ppt/notesSlides/notesSlide9.xml" Id="R566b8cce0a6c4f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41450b3944570" /><Relationship Type="http://schemas.openxmlformats.org/officeDocument/2006/relationships/notesSlide" Target="/ppt/notesSlides/notesSlide10.xml" Id="R269d5bfd243449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f06d42bfd4208" /><Relationship Type="http://schemas.openxmlformats.org/officeDocument/2006/relationships/notesSlide" Target="/ppt/notesSlides/notesSlide11.xml" Id="R01059674bef941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78c52e78e4967" /><Relationship Type="http://schemas.openxmlformats.org/officeDocument/2006/relationships/notesSlide" Target="/ppt/notesSlides/notesSlide12.xml" Id="R63a07c3e37e744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2546d85aa4a3b" /><Relationship Type="http://schemas.openxmlformats.org/officeDocument/2006/relationships/notesSlide" Target="/ppt/notesSlides/notesSlide13.xml" Id="R0373506c269f4d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ef3d2a33748ef" /><Relationship Type="http://schemas.openxmlformats.org/officeDocument/2006/relationships/notesSlide" Target="/ppt/notesSlides/notesSlide14.xml" Id="Rd3512591a824467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4d0b41d664edf" /><Relationship Type="http://schemas.openxmlformats.org/officeDocument/2006/relationships/notesSlide" Target="/ppt/notesSlides/notesSlide15.xml" Id="Rf678f7bd419f453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e05db817e4dbb" /><Relationship Type="http://schemas.openxmlformats.org/officeDocument/2006/relationships/notesSlide" Target="/ppt/notesSlides/notesSlide16.xml" Id="R7a168728d40c44a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0611a65a04174" /><Relationship Type="http://schemas.openxmlformats.org/officeDocument/2006/relationships/notesSlide" Target="/ppt/notesSlides/notesSlide17.xml" Id="R91d392bd96b04ab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309dab15241f0" /><Relationship Type="http://schemas.openxmlformats.org/officeDocument/2006/relationships/notesSlide" Target="/ppt/notesSlides/notesSlide18.xml" Id="Rc29a56c6fd7141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46998dbdd41d8" /><Relationship Type="http://schemas.openxmlformats.org/officeDocument/2006/relationships/notesSlide" Target="/ppt/notesSlides/notesSlide19.xml" Id="R07f38c5e6c604e9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af4f069954f8a" /><Relationship Type="http://schemas.openxmlformats.org/officeDocument/2006/relationships/notesSlide" Target="/ppt/notesSlides/notesSlide20.xml" Id="R6a5c1193ec8240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bar">
            <a:extLst xmlns:a="http://schemas.openxmlformats.org/drawingml/2006/main">
              <a:ext uri="{FF2B5EF4-FFF2-40B4-BE49-F238E27FC236}">
                <a16:creationId xmlns:a16="http://schemas.microsoft.com/office/drawing/2014/main" id="{88B12BE8-81E8-43EF-92F6-0CFA3FD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18DB6F9-8D76-4F9D-A629-F9CFD086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AlAfkar ERP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BB71F5F-14FA-4113-8C10-B5324E33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9906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Operating Visibility and Control for the Company</a:t>
            </a:r>
          </a:p>
        </p:txBody>
      </p:sp>
      <p:sp>
        <p:nvSpPr>
          <p:cNvPr id="4" name="cover-date">
            <a:extLst xmlns:a="http://schemas.openxmlformats.org/drawingml/2006/main">
              <a:ext uri="{FF2B5EF4-FFF2-40B4-BE49-F238E27FC236}">
                <a16:creationId xmlns:a16="http://schemas.microsoft.com/office/drawing/2014/main" id="{4E13F8DE-8C4D-4D52-9E52-FE3FA85E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953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Higher Management Presentation | Thursday, June 25, 2026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F9EB001-F08E-4CB2-B6CB-D4E9899B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911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Catering-first executive walkthrough</a:t>
            </a:r>
          </a:p>
        </p:txBody>
      </p:sp>
    </p:spTree>
    <p:extLst>
      <p:ext uri="{BB962C8B-B14F-4D97-AF65-F5344CB8AC3E}">
        <p14:creationId xmlns:p14="http://schemas.microsoft.com/office/powerpoint/2010/main" val="4529005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4CD991B-7DF1-4298-8C5D-B6C4FB87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AGENDA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79E331-8859-4E70-9ACB-DC6FE60C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A 35-minute executive path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C8EA15-64F4-48F9-8FBD-7C7DFD7F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Concept first, then business lines, then a Catering-led system walkthrough.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895CF427-0CEB-4F1A-A7DF-F0433222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Agenda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5884192-916F-4A7B-8FC0-AF644381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6" name="agenda-time">
            <a:extLst xmlns:a="http://schemas.openxmlformats.org/drawingml/2006/main">
              <a:ext uri="{FF2B5EF4-FFF2-40B4-BE49-F238E27FC236}">
                <a16:creationId xmlns:a16="http://schemas.microsoft.com/office/drawing/2014/main" id="{DBE48B8C-0F7A-4029-A00A-76D279CA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10 min</a:t>
            </a:r>
          </a:p>
        </p:txBody>
      </p:sp>
      <p:sp>
        <p:nvSpPr>
          <p:cNvPr id="7" name="agenda-rule">
            <a:extLst xmlns:a="http://schemas.openxmlformats.org/drawingml/2006/main">
              <a:ext uri="{FF2B5EF4-FFF2-40B4-BE49-F238E27FC236}">
                <a16:creationId xmlns:a16="http://schemas.microsoft.com/office/drawing/2014/main" id="{66E915AE-6722-4379-8F95-8FFC1706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genda-item">
            <a:extLst xmlns:a="http://schemas.openxmlformats.org/drawingml/2006/main">
              <a:ext uri="{FF2B5EF4-FFF2-40B4-BE49-F238E27FC236}">
                <a16:creationId xmlns:a16="http://schemas.microsoft.com/office/drawing/2014/main" id="{48707627-66B6-4A42-B33F-6C7F3618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ERP concept and business value</a:t>
            </a:r>
          </a:p>
        </p:txBody>
      </p:sp>
      <p:sp>
        <p:nvSpPr>
          <p:cNvPr id="9" name="agenda-time">
            <a:extLst xmlns:a="http://schemas.openxmlformats.org/drawingml/2006/main">
              <a:ext uri="{FF2B5EF4-FFF2-40B4-BE49-F238E27FC236}">
                <a16:creationId xmlns:a16="http://schemas.microsoft.com/office/drawing/2014/main" id="{D259F747-97F2-41A1-A14D-F083AC8C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5 min</a:t>
            </a:r>
          </a:p>
        </p:txBody>
      </p:sp>
      <p:sp>
        <p:nvSpPr>
          <p:cNvPr id="10" name="agenda-rule">
            <a:extLst xmlns:a="http://schemas.openxmlformats.org/drawingml/2006/main">
              <a:ext uri="{FF2B5EF4-FFF2-40B4-BE49-F238E27FC236}">
                <a16:creationId xmlns:a16="http://schemas.microsoft.com/office/drawing/2014/main" id="{D2A6EDE2-AC5B-467C-A9D2-FE06ED7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57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da-item">
            <a:extLst xmlns:a="http://schemas.openxmlformats.org/drawingml/2006/main">
              <a:ext uri="{FF2B5EF4-FFF2-40B4-BE49-F238E27FC236}">
                <a16:creationId xmlns:a16="http://schemas.microsoft.com/office/drawing/2014/main" id="{C2C8E5D7-E914-4A3B-BD4C-70C63902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Business lines, with Catering as the main line</a:t>
            </a:r>
          </a:p>
        </p:txBody>
      </p:sp>
      <p:sp>
        <p:nvSpPr>
          <p:cNvPr id="12" name="agenda-time">
            <a:extLst xmlns:a="http://schemas.openxmlformats.org/drawingml/2006/main">
              <a:ext uri="{FF2B5EF4-FFF2-40B4-BE49-F238E27FC236}">
                <a16:creationId xmlns:a16="http://schemas.microsoft.com/office/drawing/2014/main" id="{874C8BF5-9D97-46B9-80FB-26717F01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15 min</a:t>
            </a:r>
          </a:p>
        </p:txBody>
      </p:sp>
      <p:sp>
        <p:nvSpPr>
          <p:cNvPr id="13" name="agenda-rule">
            <a:extLst xmlns:a="http://schemas.openxmlformats.org/drawingml/2006/main">
              <a:ext uri="{FF2B5EF4-FFF2-40B4-BE49-F238E27FC236}">
                <a16:creationId xmlns:a16="http://schemas.microsoft.com/office/drawing/2014/main" id="{7BC79376-4B80-448A-9A64-582A330E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339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genda-item">
            <a:extLst xmlns:a="http://schemas.openxmlformats.org/drawingml/2006/main">
              <a:ext uri="{FF2B5EF4-FFF2-40B4-BE49-F238E27FC236}">
                <a16:creationId xmlns:a16="http://schemas.microsoft.com/office/drawing/2014/main" id="{D6C06667-FEA2-4CF9-82C3-7CC66DD2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Catering-led walkthrough across system features</a:t>
            </a:r>
          </a:p>
        </p:txBody>
      </p:sp>
      <p:sp>
        <p:nvSpPr>
          <p:cNvPr id="15" name="agenda-time">
            <a:extLst xmlns:a="http://schemas.openxmlformats.org/drawingml/2006/main">
              <a:ext uri="{FF2B5EF4-FFF2-40B4-BE49-F238E27FC236}">
                <a16:creationId xmlns:a16="http://schemas.microsoft.com/office/drawing/2014/main" id="{E4CAE582-4535-49CF-9F69-B9C6944F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5 min</a:t>
            </a:r>
          </a:p>
        </p:txBody>
      </p:sp>
      <p:sp>
        <p:nvSpPr>
          <p:cNvPr id="16" name="agenda-rule">
            <a:extLst xmlns:a="http://schemas.openxmlformats.org/drawingml/2006/main">
              <a:ext uri="{FF2B5EF4-FFF2-40B4-BE49-F238E27FC236}">
                <a16:creationId xmlns:a16="http://schemas.microsoft.com/office/drawing/2014/main" id="{595EA79D-B0D9-4393-9076-393109C9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genda-item">
            <a:extLst xmlns:a="http://schemas.openxmlformats.org/drawingml/2006/main">
              <a:ext uri="{FF2B5EF4-FFF2-40B4-BE49-F238E27FC236}">
                <a16:creationId xmlns:a16="http://schemas.microsoft.com/office/drawing/2014/main" id="{C4BC1533-B48F-454D-AC00-A985A3D2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Executive close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286023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3AEAB2D-BDE6-4131-8D07-EE2D2540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ERP CONCEPT</a:t>
            </a:r>
          </a:p>
        </p:txBody>
      </p:sp>
      <p:sp>
        <p:nvSpPr>
          <p:cNvPr id="2" name="statement-heading">
            <a:extLst xmlns:a="http://schemas.openxmlformats.org/drawingml/2006/main">
              <a:ext uri="{FF2B5EF4-FFF2-40B4-BE49-F238E27FC236}">
                <a16:creationId xmlns:a16="http://schemas.microsoft.com/office/drawing/2014/main" id="{C07B580D-F6E0-4808-82D8-4320D53E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What ERP really means</a:t>
            </a:r>
          </a:p>
        </p:txBody>
      </p:sp>
      <p:sp>
        <p:nvSpPr>
          <p:cNvPr id="3" name="statement">
            <a:extLst xmlns:a="http://schemas.openxmlformats.org/drawingml/2006/main">
              <a:ext uri="{FF2B5EF4-FFF2-40B4-BE49-F238E27FC236}">
                <a16:creationId xmlns:a16="http://schemas.microsoft.com/office/drawing/2014/main" id="{62D91F9A-5DE7-415A-B67B-95725276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One integrated operating system for the company.</a:t>
            </a:r>
          </a:p>
        </p:txBody>
      </p:sp>
      <p:sp>
        <p:nvSpPr>
          <p:cNvPr id="4" name="statement-rule">
            <a:extLst xmlns:a="http://schemas.openxmlformats.org/drawingml/2006/main">
              <a:ext uri="{FF2B5EF4-FFF2-40B4-BE49-F238E27FC236}">
                <a16:creationId xmlns:a16="http://schemas.microsoft.com/office/drawing/2014/main" id="{C02F997C-AFB7-4A3F-9151-D0A4F400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pport">
            <a:extLst xmlns:a="http://schemas.openxmlformats.org/drawingml/2006/main">
              <a:ext uri="{FF2B5EF4-FFF2-40B4-BE49-F238E27FC236}">
                <a16:creationId xmlns:a16="http://schemas.microsoft.com/office/drawing/2014/main" id="{F4A11AF0-8443-424C-A2E3-2C8169B7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ERP connects operations, finance, people, assets, documents, and reporting so management works from one controlled source of truth.</a:t>
            </a:r>
          </a:p>
        </p:txBody>
      </p:sp>
      <p:sp>
        <p:nvSpPr>
          <p:cNvPr id="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DBD8B33F-DE1B-4133-A896-1C7C0639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ERP concept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D99AF39-134B-4FB0-ACA0-7B6AF599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7199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8DF8ED8-FDA0-4FBC-B6EC-048B20CE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ERP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9CE859-BB58-4A46-9CEC-F5CDFBFA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The problems ERP is designed to remove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1436696-E7B6-4B76-8E9A-6ABA794F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The business case starts with replacing fragmented work with controlled workflows.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C72AA018-C9A1-40F7-A96F-40D640C0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ERP concept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73553EC-274C-4B2F-966D-7DC91246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6" name="column-panel">
            <a:extLst xmlns:a="http://schemas.openxmlformats.org/drawingml/2006/main">
              <a:ext uri="{FF2B5EF4-FFF2-40B4-BE49-F238E27FC236}">
                <a16:creationId xmlns:a16="http://schemas.microsoft.com/office/drawing/2014/main" id="{F2DC2DD9-C718-4867-A16D-1EEA97BD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35623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7" name="column-kicker">
            <a:extLst xmlns:a="http://schemas.openxmlformats.org/drawingml/2006/main">
              <a:ext uri="{FF2B5EF4-FFF2-40B4-BE49-F238E27FC236}">
                <a16:creationId xmlns:a16="http://schemas.microsoft.com/office/drawing/2014/main" id="{AD88F54B-8004-44A8-8DB7-8CC8BD0F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VISIBILITY</a:t>
            </a:r>
          </a:p>
        </p:txBody>
      </p:sp>
      <p:sp>
        <p:nvSpPr>
          <p:cNvPr id="8" name="column-title">
            <a:extLst xmlns:a="http://schemas.openxmlformats.org/drawingml/2006/main">
              <a:ext uri="{FF2B5EF4-FFF2-40B4-BE49-F238E27FC236}">
                <a16:creationId xmlns:a16="http://schemas.microsoft.com/office/drawing/2014/main" id="{298D90AB-9B00-4822-A60A-382A725A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Scattered information</a:t>
            </a:r>
          </a:p>
        </p:txBody>
      </p:sp>
      <p:sp>
        <p:nvSpPr>
          <p:cNvPr id="9" name="column-body">
            <a:extLst xmlns:a="http://schemas.openxmlformats.org/drawingml/2006/main">
              <a:ext uri="{FF2B5EF4-FFF2-40B4-BE49-F238E27FC236}">
                <a16:creationId xmlns:a16="http://schemas.microsoft.com/office/drawing/2014/main" id="{7E1FDF7C-568F-4309-84DF-81EA57F7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914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Spreadsheets and separate files delay decisions and hide exceptions.</a:t>
            </a:r>
          </a:p>
        </p:txBody>
      </p:sp>
      <p:sp>
        <p:nvSpPr>
          <p:cNvPr id="10" name="column-panel">
            <a:extLst xmlns:a="http://schemas.openxmlformats.org/drawingml/2006/main">
              <a:ext uri="{FF2B5EF4-FFF2-40B4-BE49-F238E27FC236}">
                <a16:creationId xmlns:a16="http://schemas.microsoft.com/office/drawing/2014/main" id="{BC4E8176-DEF9-44ED-B240-3CC54310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86050"/>
            <a:ext cx="35623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lumn-kicker">
            <a:extLst xmlns:a="http://schemas.openxmlformats.org/drawingml/2006/main">
              <a:ext uri="{FF2B5EF4-FFF2-40B4-BE49-F238E27FC236}">
                <a16:creationId xmlns:a16="http://schemas.microsoft.com/office/drawing/2014/main" id="{28561BC2-0EBA-4B2E-9AA9-DACB926E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95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CONTROL</a:t>
            </a:r>
          </a:p>
        </p:txBody>
      </p:sp>
      <p:sp>
        <p:nvSpPr>
          <p:cNvPr id="12" name="column-title">
            <a:extLst xmlns:a="http://schemas.openxmlformats.org/drawingml/2006/main">
              <a:ext uri="{FF2B5EF4-FFF2-40B4-BE49-F238E27FC236}">
                <a16:creationId xmlns:a16="http://schemas.microsoft.com/office/drawing/2014/main" id="{51A5830B-694C-4DBC-87BA-BF5535A5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575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Manual follow-up</a:t>
            </a:r>
          </a:p>
        </p:txBody>
      </p:sp>
      <p:sp>
        <p:nvSpPr>
          <p:cNvPr id="13" name="column-body">
            <a:extLst xmlns:a="http://schemas.openxmlformats.org/drawingml/2006/main">
              <a:ext uri="{FF2B5EF4-FFF2-40B4-BE49-F238E27FC236}">
                <a16:creationId xmlns:a16="http://schemas.microsoft.com/office/drawing/2014/main" id="{382C2973-18BD-42E3-BB6B-33C03C1C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019550"/>
            <a:ext cx="2914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Approvals, renewals, quantities, and exceptions depend on people remembering.</a:t>
            </a:r>
          </a:p>
        </p:txBody>
      </p:sp>
      <p:sp>
        <p:nvSpPr>
          <p:cNvPr id="14" name="column-panel">
            <a:extLst xmlns:a="http://schemas.openxmlformats.org/drawingml/2006/main">
              <a:ext uri="{FF2B5EF4-FFF2-40B4-BE49-F238E27FC236}">
                <a16:creationId xmlns:a16="http://schemas.microsoft.com/office/drawing/2014/main" id="{420964B4-0079-4D09-8F4D-31532EA5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35623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lumn-kicker">
            <a:extLst xmlns:a="http://schemas.openxmlformats.org/drawingml/2006/main">
              <a:ext uri="{FF2B5EF4-FFF2-40B4-BE49-F238E27FC236}">
                <a16:creationId xmlns:a16="http://schemas.microsoft.com/office/drawing/2014/main" id="{58B5A03A-28C8-4DC8-A9E1-9217102C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CONSISTENCY</a:t>
            </a:r>
          </a:p>
        </p:txBody>
      </p:sp>
      <p:sp>
        <p:nvSpPr>
          <p:cNvPr id="16" name="column-title">
            <a:extLst xmlns:a="http://schemas.openxmlformats.org/drawingml/2006/main">
              <a:ext uri="{FF2B5EF4-FFF2-40B4-BE49-F238E27FC236}">
                <a16:creationId xmlns:a16="http://schemas.microsoft.com/office/drawing/2014/main" id="{16CBBC04-C6B8-4FF2-8B1E-00114BB3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575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Different ways of working</a:t>
            </a:r>
          </a:p>
        </p:txBody>
      </p:sp>
      <p:sp>
        <p:nvSpPr>
          <p:cNvPr id="17" name="column-body">
            <a:extLst xmlns:a="http://schemas.openxmlformats.org/drawingml/2006/main">
              <a:ext uri="{FF2B5EF4-FFF2-40B4-BE49-F238E27FC236}">
                <a16:creationId xmlns:a16="http://schemas.microsoft.com/office/drawing/2014/main" id="{C85A9D0F-F3AA-43E7-B2D1-12D4D544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19550"/>
            <a:ext cx="2914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Departments use different versions of the same process and report.</a:t>
            </a:r>
          </a:p>
        </p:txBody>
      </p:sp>
    </p:spTree>
    <p:extLst>
      <p:ext uri="{BB962C8B-B14F-4D97-AF65-F5344CB8AC3E}">
        <p14:creationId xmlns:p14="http://schemas.microsoft.com/office/powerpoint/2010/main" val="20781621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F36A915-EB6D-47CE-A6AA-7DE2A74F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ERP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7D3AA9-CDDB-4EDD-8CC1-E4C91453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How ERP helps management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7ADBC1A-DF0A-48AB-8C54-FBF0B778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The strongest return is the compound effect of connected controls.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D154BD1B-1266-43CE-B08D-3D25A08B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ERP concept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2D29C8C-E144-43F1-99DE-B61C17AE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6" name="column-panel">
            <a:extLst xmlns:a="http://schemas.openxmlformats.org/drawingml/2006/main">
              <a:ext uri="{FF2B5EF4-FFF2-40B4-BE49-F238E27FC236}">
                <a16:creationId xmlns:a16="http://schemas.microsoft.com/office/drawing/2014/main" id="{9C474D5B-4B97-4600-85DC-6EA92EFA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35623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7" name="column-kicker">
            <a:extLst xmlns:a="http://schemas.openxmlformats.org/drawingml/2006/main">
              <a:ext uri="{FF2B5EF4-FFF2-40B4-BE49-F238E27FC236}">
                <a16:creationId xmlns:a16="http://schemas.microsoft.com/office/drawing/2014/main" id="{13DC851F-A7D4-4841-B64B-232D5C3F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DECISIONS</a:t>
            </a:r>
          </a:p>
        </p:txBody>
      </p:sp>
      <p:sp>
        <p:nvSpPr>
          <p:cNvPr id="8" name="column-title">
            <a:extLst xmlns:a="http://schemas.openxmlformats.org/drawingml/2006/main">
              <a:ext uri="{FF2B5EF4-FFF2-40B4-BE49-F238E27FC236}">
                <a16:creationId xmlns:a16="http://schemas.microsoft.com/office/drawing/2014/main" id="{BC08EF73-B20E-4E4A-87D2-FFBFE9B2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One source of truth</a:t>
            </a:r>
          </a:p>
        </p:txBody>
      </p:sp>
      <p:sp>
        <p:nvSpPr>
          <p:cNvPr id="9" name="column-body">
            <a:extLst xmlns:a="http://schemas.openxmlformats.org/drawingml/2006/main">
              <a:ext uri="{FF2B5EF4-FFF2-40B4-BE49-F238E27FC236}">
                <a16:creationId xmlns:a16="http://schemas.microsoft.com/office/drawing/2014/main" id="{CF6004E8-7426-4073-B27D-5C05547F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914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Management sees the same operational picture departments are executing.</a:t>
            </a:r>
          </a:p>
        </p:txBody>
      </p:sp>
      <p:sp>
        <p:nvSpPr>
          <p:cNvPr id="10" name="column-panel">
            <a:extLst xmlns:a="http://schemas.openxmlformats.org/drawingml/2006/main">
              <a:ext uri="{FF2B5EF4-FFF2-40B4-BE49-F238E27FC236}">
                <a16:creationId xmlns:a16="http://schemas.microsoft.com/office/drawing/2014/main" id="{C0B949AD-E2BA-4227-BD4A-099BEC26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86050"/>
            <a:ext cx="35623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lumn-kicker">
            <a:extLst xmlns:a="http://schemas.openxmlformats.org/drawingml/2006/main">
              <a:ext uri="{FF2B5EF4-FFF2-40B4-BE49-F238E27FC236}">
                <a16:creationId xmlns:a16="http://schemas.microsoft.com/office/drawing/2014/main" id="{91B44F3D-1C06-4C88-BFB6-8FF10E8C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95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DISCIPLINE</a:t>
            </a:r>
          </a:p>
        </p:txBody>
      </p:sp>
      <p:sp>
        <p:nvSpPr>
          <p:cNvPr id="12" name="column-title">
            <a:extLst xmlns:a="http://schemas.openxmlformats.org/drawingml/2006/main">
              <a:ext uri="{FF2B5EF4-FFF2-40B4-BE49-F238E27FC236}">
                <a16:creationId xmlns:a16="http://schemas.microsoft.com/office/drawing/2014/main" id="{7C514AC6-DDB8-4E79-93A1-F92C611C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575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Workflow accountability</a:t>
            </a:r>
          </a:p>
        </p:txBody>
      </p:sp>
      <p:sp>
        <p:nvSpPr>
          <p:cNvPr id="13" name="column-body">
            <a:extLst xmlns:a="http://schemas.openxmlformats.org/drawingml/2006/main">
              <a:ext uri="{FF2B5EF4-FFF2-40B4-BE49-F238E27FC236}">
                <a16:creationId xmlns:a16="http://schemas.microsoft.com/office/drawing/2014/main" id="{C16702DB-785A-41F0-A3AD-088EC034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019550"/>
            <a:ext cx="2914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Roles, permissions, approvals, and statuses make ownership visible.</a:t>
            </a:r>
          </a:p>
        </p:txBody>
      </p:sp>
      <p:sp>
        <p:nvSpPr>
          <p:cNvPr id="14" name="column-panel">
            <a:extLst xmlns:a="http://schemas.openxmlformats.org/drawingml/2006/main">
              <a:ext uri="{FF2B5EF4-FFF2-40B4-BE49-F238E27FC236}">
                <a16:creationId xmlns:a16="http://schemas.microsoft.com/office/drawing/2014/main" id="{21AF3F94-54F4-4ED5-8573-130E8F27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35623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lumn-kicker">
            <a:extLst xmlns:a="http://schemas.openxmlformats.org/drawingml/2006/main">
              <a:ext uri="{FF2B5EF4-FFF2-40B4-BE49-F238E27FC236}">
                <a16:creationId xmlns:a16="http://schemas.microsoft.com/office/drawing/2014/main" id="{2C96395D-D65E-4E7D-972C-A4AFDB58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GROWTH</a:t>
            </a:r>
          </a:p>
        </p:txBody>
      </p:sp>
      <p:sp>
        <p:nvSpPr>
          <p:cNvPr id="16" name="column-title">
            <a:extLst xmlns:a="http://schemas.openxmlformats.org/drawingml/2006/main">
              <a:ext uri="{FF2B5EF4-FFF2-40B4-BE49-F238E27FC236}">
                <a16:creationId xmlns:a16="http://schemas.microsoft.com/office/drawing/2014/main" id="{920C75B4-092D-4BCD-9814-42707EF6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575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Scalable structure</a:t>
            </a:r>
          </a:p>
        </p:txBody>
      </p:sp>
      <p:sp>
        <p:nvSpPr>
          <p:cNvPr id="17" name="column-body">
            <a:extLst xmlns:a="http://schemas.openxmlformats.org/drawingml/2006/main">
              <a:ext uri="{FF2B5EF4-FFF2-40B4-BE49-F238E27FC236}">
                <a16:creationId xmlns:a16="http://schemas.microsoft.com/office/drawing/2014/main" id="{990359DC-DF3B-48CA-B38C-4D9CE451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19550"/>
            <a:ext cx="2914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Branches, companies, and business lines can grow without new isolated systems.</a:t>
            </a:r>
          </a:p>
        </p:txBody>
      </p:sp>
    </p:spTree>
    <p:extLst>
      <p:ext uri="{BB962C8B-B14F-4D97-AF65-F5344CB8AC3E}">
        <p14:creationId xmlns:p14="http://schemas.microsoft.com/office/powerpoint/2010/main" val="11808390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6226ED1-8C0F-45CA-B102-94B938ED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BUSINESS LINES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90C639-0A13-4E26-B8AA-B2DC111A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Business lines run on a shared ERP backbone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0E5CF7F-F9D0-4353-A503-F2233E72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Catering receives the deepest attention, while other lines share the same controls and services.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F78BD128-79C9-4BDA-9175-1764940F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Business lines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9DA35F9-A167-4F2C-AB15-90C2F9F9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6" name="business-line">
            <a:extLst xmlns:a="http://schemas.openxmlformats.org/drawingml/2006/main">
              <a:ext uri="{FF2B5EF4-FFF2-40B4-BE49-F238E27FC236}">
                <a16:creationId xmlns:a16="http://schemas.microsoft.com/office/drawing/2014/main" id="{A4318033-B44E-46B7-AE97-DFE16F27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3562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7" name="line-title">
            <a:extLst xmlns:a="http://schemas.openxmlformats.org/drawingml/2006/main">
              <a:ext uri="{FF2B5EF4-FFF2-40B4-BE49-F238E27FC236}">
                <a16:creationId xmlns:a16="http://schemas.microsoft.com/office/drawing/2014/main" id="{15D65677-EFDF-4D0C-8D7C-7269DD20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Catering</a:t>
            </a:r>
          </a:p>
        </p:txBody>
      </p:sp>
      <p:sp>
        <p:nvSpPr>
          <p:cNvPr id="8" name="line-body">
            <a:extLst xmlns:a="http://schemas.openxmlformats.org/drawingml/2006/main">
              <a:ext uri="{FF2B5EF4-FFF2-40B4-BE49-F238E27FC236}">
                <a16:creationId xmlns:a16="http://schemas.microsoft.com/office/drawing/2014/main" id="{22F57E02-5C54-4103-95FA-138228EA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289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Contracts, meals, locations, schedules, deliveries, assignments, reports</a:t>
            </a:r>
          </a:p>
        </p:txBody>
      </p:sp>
      <p:sp>
        <p:nvSpPr>
          <p:cNvPr id="9" name="business-line">
            <a:extLst xmlns:a="http://schemas.openxmlformats.org/drawingml/2006/main">
              <a:ext uri="{FF2B5EF4-FFF2-40B4-BE49-F238E27FC236}">
                <a16:creationId xmlns:a16="http://schemas.microsoft.com/office/drawing/2014/main" id="{6F14D472-C979-425A-9760-859BCE5A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562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ine-title">
            <a:extLst xmlns:a="http://schemas.openxmlformats.org/drawingml/2006/main">
              <a:ext uri="{FF2B5EF4-FFF2-40B4-BE49-F238E27FC236}">
                <a16:creationId xmlns:a16="http://schemas.microsoft.com/office/drawing/2014/main" id="{C9B970B3-16C5-4DF1-9B71-B16656F4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38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Real Estate</a:t>
            </a:r>
          </a:p>
        </p:txBody>
      </p:sp>
      <p:sp>
        <p:nvSpPr>
          <p:cNvPr id="11" name="line-body">
            <a:extLst xmlns:a="http://schemas.openxmlformats.org/drawingml/2006/main">
              <a:ext uri="{FF2B5EF4-FFF2-40B4-BE49-F238E27FC236}">
                <a16:creationId xmlns:a16="http://schemas.microsoft.com/office/drawing/2014/main" id="{346CF672-972D-4122-A50B-A8E7D5B2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289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Properties, units, leases, collections, utilities, expenses</a:t>
            </a:r>
          </a:p>
        </p:txBody>
      </p:sp>
      <p:sp>
        <p:nvSpPr>
          <p:cNvPr id="12" name="business-line">
            <a:extLst xmlns:a="http://schemas.openxmlformats.org/drawingml/2006/main">
              <a:ext uri="{FF2B5EF4-FFF2-40B4-BE49-F238E27FC236}">
                <a16:creationId xmlns:a16="http://schemas.microsoft.com/office/drawing/2014/main" id="{C10DFB81-45E7-41AB-8607-AC461BA8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562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ine-title">
            <a:extLst xmlns:a="http://schemas.openxmlformats.org/drawingml/2006/main">
              <a:ext uri="{FF2B5EF4-FFF2-40B4-BE49-F238E27FC236}">
                <a16:creationId xmlns:a16="http://schemas.microsoft.com/office/drawing/2014/main" id="{AF221F34-24F2-4DD1-BB90-26A9A4CB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38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Fleet</a:t>
            </a:r>
          </a:p>
        </p:txBody>
      </p:sp>
      <p:sp>
        <p:nvSpPr>
          <p:cNvPr id="14" name="line-body">
            <a:extLst xmlns:a="http://schemas.openxmlformats.org/drawingml/2006/main">
              <a:ext uri="{FF2B5EF4-FFF2-40B4-BE49-F238E27FC236}">
                <a16:creationId xmlns:a16="http://schemas.microsoft.com/office/drawing/2014/main" id="{6B64F9A5-31D0-4B8E-870C-F3770749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289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Vehicles, assignments, expenses, documents, service rules</a:t>
            </a:r>
          </a:p>
        </p:txBody>
      </p:sp>
      <p:sp>
        <p:nvSpPr>
          <p:cNvPr id="15" name="business-line">
            <a:extLst xmlns:a="http://schemas.openxmlformats.org/drawingml/2006/main">
              <a:ext uri="{FF2B5EF4-FFF2-40B4-BE49-F238E27FC236}">
                <a16:creationId xmlns:a16="http://schemas.microsoft.com/office/drawing/2014/main" id="{158CB4B9-390D-47A5-8A77-2A3AAE43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3562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ine-title">
            <a:extLst xmlns:a="http://schemas.openxmlformats.org/drawingml/2006/main">
              <a:ext uri="{FF2B5EF4-FFF2-40B4-BE49-F238E27FC236}">
                <a16:creationId xmlns:a16="http://schemas.microsoft.com/office/drawing/2014/main" id="{1D5893F3-BB8F-4E8B-96C6-07E5BA92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Maintenance</a:t>
            </a:r>
          </a:p>
        </p:txBody>
      </p:sp>
      <p:sp>
        <p:nvSpPr>
          <p:cNvPr id="17" name="line-body">
            <a:extLst xmlns:a="http://schemas.openxmlformats.org/drawingml/2006/main">
              <a:ext uri="{FF2B5EF4-FFF2-40B4-BE49-F238E27FC236}">
                <a16:creationId xmlns:a16="http://schemas.microsoft.com/office/drawing/2014/main" id="{32D5E318-D855-4EFD-851E-453F7D69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529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Assets, requests, work orders, approvals, reports</a:t>
            </a:r>
          </a:p>
        </p:txBody>
      </p:sp>
      <p:sp>
        <p:nvSpPr>
          <p:cNvPr id="18" name="business-line">
            <a:extLst xmlns:a="http://schemas.openxmlformats.org/drawingml/2006/main">
              <a:ext uri="{FF2B5EF4-FFF2-40B4-BE49-F238E27FC236}">
                <a16:creationId xmlns:a16="http://schemas.microsoft.com/office/drawing/2014/main" id="{00262A31-D5B4-4A03-99F9-914CABAF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171950"/>
            <a:ext cx="3562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line-title">
            <a:extLst xmlns:a="http://schemas.openxmlformats.org/drawingml/2006/main">
              <a:ext uri="{FF2B5EF4-FFF2-40B4-BE49-F238E27FC236}">
                <a16:creationId xmlns:a16="http://schemas.microsoft.com/office/drawing/2014/main" id="{00D0DDBA-B0FF-45D4-959E-94D86E15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362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Sales &amp; Procurement</a:t>
            </a:r>
          </a:p>
        </p:txBody>
      </p:sp>
      <p:sp>
        <p:nvSpPr>
          <p:cNvPr id="20" name="line-body">
            <a:extLst xmlns:a="http://schemas.openxmlformats.org/drawingml/2006/main">
              <a:ext uri="{FF2B5EF4-FFF2-40B4-BE49-F238E27FC236}">
                <a16:creationId xmlns:a16="http://schemas.microsoft.com/office/drawing/2014/main" id="{725B1421-F57B-4A43-A974-69870230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7529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Customers, pricing, orders, suppliers, purchasing, receipts</a:t>
            </a:r>
          </a:p>
        </p:txBody>
      </p:sp>
      <p:sp>
        <p:nvSpPr>
          <p:cNvPr id="21" name="business-line">
            <a:extLst xmlns:a="http://schemas.openxmlformats.org/drawingml/2006/main">
              <a:ext uri="{FF2B5EF4-FFF2-40B4-BE49-F238E27FC236}">
                <a16:creationId xmlns:a16="http://schemas.microsoft.com/office/drawing/2014/main" id="{7DA04CAE-759D-4E99-944A-CB89AC9E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3562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ine-title">
            <a:extLst xmlns:a="http://schemas.openxmlformats.org/drawingml/2006/main">
              <a:ext uri="{FF2B5EF4-FFF2-40B4-BE49-F238E27FC236}">
                <a16:creationId xmlns:a16="http://schemas.microsoft.com/office/drawing/2014/main" id="{A12DC8EE-0245-4AB1-A873-11BACE05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62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Shared Services</a:t>
            </a:r>
          </a:p>
        </p:txBody>
      </p:sp>
      <p:sp>
        <p:nvSpPr>
          <p:cNvPr id="23" name="line-body">
            <a:extLst xmlns:a="http://schemas.openxmlformats.org/drawingml/2006/main">
              <a:ext uri="{FF2B5EF4-FFF2-40B4-BE49-F238E27FC236}">
                <a16:creationId xmlns:a16="http://schemas.microsoft.com/office/drawing/2014/main" id="{B374C76B-2E49-40D6-81CC-46DC5554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529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HR, attendance, payroll, documents, tasks, security</a:t>
            </a:r>
          </a:p>
        </p:txBody>
      </p:sp>
    </p:spTree>
    <p:extLst>
      <p:ext uri="{BB962C8B-B14F-4D97-AF65-F5344CB8AC3E}">
        <p14:creationId xmlns:p14="http://schemas.microsoft.com/office/powerpoint/2010/main" val="1421937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87EA84B-93DA-46CF-8C55-5EF93312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BUSINESS LINES</a:t>
            </a:r>
          </a:p>
        </p:txBody>
      </p:sp>
      <p:sp>
        <p:nvSpPr>
          <p:cNvPr id="2" name="statement-heading">
            <a:extLst xmlns:a="http://schemas.openxmlformats.org/drawingml/2006/main">
              <a:ext uri="{FF2B5EF4-FFF2-40B4-BE49-F238E27FC236}">
                <a16:creationId xmlns:a16="http://schemas.microsoft.com/office/drawing/2014/main" id="{90650AB7-0CFC-4CD2-9BEC-622A9F8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Why Catering gets the main focus</a:t>
            </a:r>
          </a:p>
        </p:txBody>
      </p:sp>
      <p:sp>
        <p:nvSpPr>
          <p:cNvPr id="3" name="statement">
            <a:extLst xmlns:a="http://schemas.openxmlformats.org/drawingml/2006/main">
              <a:ext uri="{FF2B5EF4-FFF2-40B4-BE49-F238E27FC236}">
                <a16:creationId xmlns:a16="http://schemas.microsoft.com/office/drawing/2014/main" id="{3A85F70B-40FA-4057-8A02-00FCEDC0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Catering is a daily execution business.</a:t>
            </a:r>
          </a:p>
        </p:txBody>
      </p:sp>
      <p:sp>
        <p:nvSpPr>
          <p:cNvPr id="4" name="statement-rule">
            <a:extLst xmlns:a="http://schemas.openxmlformats.org/drawingml/2006/main">
              <a:ext uri="{FF2B5EF4-FFF2-40B4-BE49-F238E27FC236}">
                <a16:creationId xmlns:a16="http://schemas.microsoft.com/office/drawing/2014/main" id="{05AF69AD-5E88-4247-A950-4AEA1096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pport">
            <a:extLst xmlns:a="http://schemas.openxmlformats.org/drawingml/2006/main">
              <a:ext uri="{FF2B5EF4-FFF2-40B4-BE49-F238E27FC236}">
                <a16:creationId xmlns:a16="http://schemas.microsoft.com/office/drawing/2014/main" id="{AE8C3492-1397-4631-AB08-9CC7A9F0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Contracts, meal planning, locations, schedules, deliveries, assignments, quantities, and variances must stay visible every day.</a:t>
            </a:r>
          </a:p>
        </p:txBody>
      </p:sp>
      <p:sp>
        <p:nvSpPr>
          <p:cNvPr id="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BC2913CC-ACD3-4F9E-A69B-6F207E09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Business lines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4751CDF-4F42-45E2-8EDD-D72CBB85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801108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93CA18E-3FEA-4742-8AD4-B6958DBC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CATERING WALKTHROUGH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A48D8D-D1E4-4C74-ACC7-569937B7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The Catering operating cycle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C61536D-C8A4-41DC-B83A-BF039FB8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A daily control loop from agreement to execution to management review.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C9E75500-B672-4ADD-8D1E-4FCBB7BF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Catering walkthrough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1EF7D68-7BD9-4E5A-A561-814BBCE2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6" name="cycle-step">
            <a:extLst xmlns:a="http://schemas.openxmlformats.org/drawingml/2006/main">
              <a:ext uri="{FF2B5EF4-FFF2-40B4-BE49-F238E27FC236}">
                <a16:creationId xmlns:a16="http://schemas.microsoft.com/office/drawing/2014/main" id="{EE7BEC2D-4275-40AE-A4FF-14DCBB51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343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7" name="step-num">
            <a:extLst xmlns:a="http://schemas.openxmlformats.org/drawingml/2006/main">
              <a:ext uri="{FF2B5EF4-FFF2-40B4-BE49-F238E27FC236}">
                <a16:creationId xmlns:a16="http://schemas.microsoft.com/office/drawing/2014/main" id="{5A59E816-20CB-4D07-ADAF-F0707019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8" name="step-title">
            <a:extLst xmlns:a="http://schemas.openxmlformats.org/drawingml/2006/main">
              <a:ext uri="{FF2B5EF4-FFF2-40B4-BE49-F238E27FC236}">
                <a16:creationId xmlns:a16="http://schemas.microsoft.com/office/drawing/2014/main" id="{5D91E8DE-D48B-49BB-81F8-A4FC9A4E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Contract</a:t>
            </a:r>
          </a:p>
        </p:txBody>
      </p:sp>
      <p:sp>
        <p:nvSpPr>
          <p:cNvPr id="9" name="step-body">
            <a:extLst xmlns:a="http://schemas.openxmlformats.org/drawingml/2006/main">
              <a:ext uri="{FF2B5EF4-FFF2-40B4-BE49-F238E27FC236}">
                <a16:creationId xmlns:a16="http://schemas.microsoft.com/office/drawing/2014/main" id="{D7EA055D-8A7F-49F2-B5F7-52CAF143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Customer terms and service commitments</a:t>
            </a:r>
          </a:p>
        </p:txBody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5B92F1C4-400E-4830-82FF-0AEB943A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05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BCC4"/>
                </a:solidFill>
              </a:defRPr>
            </a:pPr>
            <a:r>
              <a:rPr sz="2250" b="1">
                <a:solidFill>
                  <a:srgbClr val="B8BCC4"/>
                </a:solidFill>
              </a:rPr>
              <a:t>&gt;</a:t>
            </a:r>
          </a:p>
        </p:txBody>
      </p:sp>
      <p:sp>
        <p:nvSpPr>
          <p:cNvPr id="11" name="cycle-step">
            <a:extLst xmlns:a="http://schemas.openxmlformats.org/drawingml/2006/main">
              <a:ext uri="{FF2B5EF4-FFF2-40B4-BE49-F238E27FC236}">
                <a16:creationId xmlns:a16="http://schemas.microsoft.com/office/drawing/2014/main" id="{2836B265-5BBC-4363-9042-163782B2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57500"/>
            <a:ext cx="2343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num">
            <a:extLst xmlns:a="http://schemas.openxmlformats.org/drawingml/2006/main">
              <a:ext uri="{FF2B5EF4-FFF2-40B4-BE49-F238E27FC236}">
                <a16:creationId xmlns:a16="http://schemas.microsoft.com/office/drawing/2014/main" id="{77BF6A61-E7CE-447E-8605-375AD03C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670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3" name="step-title">
            <a:extLst xmlns:a="http://schemas.openxmlformats.org/drawingml/2006/main">
              <a:ext uri="{FF2B5EF4-FFF2-40B4-BE49-F238E27FC236}">
                <a16:creationId xmlns:a16="http://schemas.microsoft.com/office/drawing/2014/main" id="{155F5BC7-4461-4F1C-AA00-27E76670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43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Plan</a:t>
            </a:r>
          </a:p>
        </p:txBody>
      </p:sp>
      <p:sp>
        <p:nvSpPr>
          <p:cNvPr id="14" name="step-body">
            <a:extLst xmlns:a="http://schemas.openxmlformats.org/drawingml/2006/main">
              <a:ext uri="{FF2B5EF4-FFF2-40B4-BE49-F238E27FC236}">
                <a16:creationId xmlns:a16="http://schemas.microsoft.com/office/drawing/2014/main" id="{BEED7254-98D3-45C4-B474-C862DEDA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576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Meals, locations, schedules, quantities</a:t>
            </a:r>
          </a:p>
        </p:txBody>
      </p:sp>
      <p:sp>
        <p:nvSpPr>
          <p:cNvPr id="15" name="arrow">
            <a:extLst xmlns:a="http://schemas.openxmlformats.org/drawingml/2006/main">
              <a:ext uri="{FF2B5EF4-FFF2-40B4-BE49-F238E27FC236}">
                <a16:creationId xmlns:a16="http://schemas.microsoft.com/office/drawing/2014/main" id="{89364282-5B0A-455D-AEB9-FF012224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05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BCC4"/>
                </a:solidFill>
              </a:defRPr>
            </a:pPr>
            <a:r>
              <a:rPr sz="2250" b="1">
                <a:solidFill>
                  <a:srgbClr val="B8BCC4"/>
                </a:solidFill>
              </a:rPr>
              <a:t>&gt;</a:t>
            </a:r>
          </a:p>
        </p:txBody>
      </p:sp>
      <p:sp>
        <p:nvSpPr>
          <p:cNvPr id="16" name="cycle-step">
            <a:extLst xmlns:a="http://schemas.openxmlformats.org/drawingml/2006/main">
              <a:ext uri="{FF2B5EF4-FFF2-40B4-BE49-F238E27FC236}">
                <a16:creationId xmlns:a16="http://schemas.microsoft.com/office/drawing/2014/main" id="{4EA16464-EC5C-4024-A4F5-FE88FF45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2343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-num">
            <a:extLst xmlns:a="http://schemas.openxmlformats.org/drawingml/2006/main">
              <a:ext uri="{FF2B5EF4-FFF2-40B4-BE49-F238E27FC236}">
                <a16:creationId xmlns:a16="http://schemas.microsoft.com/office/drawing/2014/main" id="{A0E3B4A5-2F2C-4E09-9D7F-59A7358B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670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8" name="step-title">
            <a:extLst xmlns:a="http://schemas.openxmlformats.org/drawingml/2006/main">
              <a:ext uri="{FF2B5EF4-FFF2-40B4-BE49-F238E27FC236}">
                <a16:creationId xmlns:a16="http://schemas.microsoft.com/office/drawing/2014/main" id="{C5E6C3B8-AE0B-40E0-AABA-16715DEB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43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Execute</a:t>
            </a:r>
          </a:p>
        </p:txBody>
      </p:sp>
      <p:sp>
        <p:nvSpPr>
          <p:cNvPr id="19" name="step-body">
            <a:extLst xmlns:a="http://schemas.openxmlformats.org/drawingml/2006/main">
              <a:ext uri="{FF2B5EF4-FFF2-40B4-BE49-F238E27FC236}">
                <a16:creationId xmlns:a16="http://schemas.microsoft.com/office/drawing/2014/main" id="{6AC29450-6355-4CC1-9416-655E04E5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Deliveries, assignments, received/distributed actuals</a:t>
            </a:r>
          </a:p>
        </p:txBody>
      </p:sp>
      <p:sp>
        <p:nvSpPr>
          <p:cNvPr id="20" name="arrow">
            <a:extLst xmlns:a="http://schemas.openxmlformats.org/drawingml/2006/main">
              <a:ext uri="{FF2B5EF4-FFF2-40B4-BE49-F238E27FC236}">
                <a16:creationId xmlns:a16="http://schemas.microsoft.com/office/drawing/2014/main" id="{2745E8E0-6E06-4F3B-8027-216DD65A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05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BCC4"/>
                </a:solidFill>
              </a:defRPr>
            </a:pPr>
            <a:r>
              <a:rPr sz="2250" b="1">
                <a:solidFill>
                  <a:srgbClr val="B8BCC4"/>
                </a:solidFill>
              </a:rPr>
              <a:t>&gt;</a:t>
            </a:r>
          </a:p>
        </p:txBody>
      </p:sp>
      <p:sp>
        <p:nvSpPr>
          <p:cNvPr id="21" name="cycle-step">
            <a:extLst xmlns:a="http://schemas.openxmlformats.org/drawingml/2006/main">
              <a:ext uri="{FF2B5EF4-FFF2-40B4-BE49-F238E27FC236}">
                <a16:creationId xmlns:a16="http://schemas.microsoft.com/office/drawing/2014/main" id="{60BC0DA1-F77E-4E93-9430-8054CD0A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343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ep-num">
            <a:extLst xmlns:a="http://schemas.openxmlformats.org/drawingml/2006/main">
              <a:ext uri="{FF2B5EF4-FFF2-40B4-BE49-F238E27FC236}">
                <a16:creationId xmlns:a16="http://schemas.microsoft.com/office/drawing/2014/main" id="{E2F30FCF-FA71-4036-A6A9-500A29D3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670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23" name="step-title">
            <a:extLst xmlns:a="http://schemas.openxmlformats.org/drawingml/2006/main">
              <a:ext uri="{FF2B5EF4-FFF2-40B4-BE49-F238E27FC236}">
                <a16:creationId xmlns:a16="http://schemas.microsoft.com/office/drawing/2014/main" id="{C2A9CCC2-79DB-444A-91E3-4843CD3A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Review</a:t>
            </a:r>
          </a:p>
        </p:txBody>
      </p:sp>
      <p:sp>
        <p:nvSpPr>
          <p:cNvPr id="24" name="step-body">
            <a:extLst xmlns:a="http://schemas.openxmlformats.org/drawingml/2006/main">
              <a:ext uri="{FF2B5EF4-FFF2-40B4-BE49-F238E27FC236}">
                <a16:creationId xmlns:a16="http://schemas.microsoft.com/office/drawing/2014/main" id="{1418DA81-9E6D-4244-9308-DDFCA299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576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Variances, reports, management follow-up</a:t>
            </a:r>
          </a:p>
        </p:txBody>
      </p:sp>
    </p:spTree>
    <p:extLst>
      <p:ext uri="{BB962C8B-B14F-4D97-AF65-F5344CB8AC3E}">
        <p14:creationId xmlns:p14="http://schemas.microsoft.com/office/powerpoint/2010/main" val="16317343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0C7F1AF-EFF3-4DDA-9743-FD395E27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CATERING WALKTHROUGH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BB69AC-ACAD-42C6-B438-10F80E83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Company structure comes first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E70F330-1451-42EA-99B3-C624BC5A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Before operations, the ERP defines who owns what and who can see what.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D5A9828B-3CB9-4791-9EE5-168A2E8B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Catering walkthrough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3B849E9-84BA-4773-9414-3D31A779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6" name="focus-panel">
            <a:extLst xmlns:a="http://schemas.openxmlformats.org/drawingml/2006/main">
              <a:ext uri="{FF2B5EF4-FFF2-40B4-BE49-F238E27FC236}">
                <a16:creationId xmlns:a16="http://schemas.microsoft.com/office/drawing/2014/main" id="{CEB0E489-3EAB-4818-BF24-C6C11D55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44958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7" name="focus-title">
            <a:extLst xmlns:a="http://schemas.openxmlformats.org/drawingml/2006/main">
              <a:ext uri="{FF2B5EF4-FFF2-40B4-BE49-F238E27FC236}">
                <a16:creationId xmlns:a16="http://schemas.microsoft.com/office/drawing/2014/main" id="{C537412B-5C41-4174-9871-6F44C0C9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Management control starts with structure</a:t>
            </a:r>
          </a:p>
        </p:txBody>
      </p:sp>
      <p:sp>
        <p:nvSpPr>
          <p:cNvPr id="8" name="focus-body">
            <a:extLst xmlns:a="http://schemas.openxmlformats.org/drawingml/2006/main">
              <a:ext uri="{FF2B5EF4-FFF2-40B4-BE49-F238E27FC236}">
                <a16:creationId xmlns:a16="http://schemas.microsoft.com/office/drawing/2014/main" id="{1DAA707D-08D4-41E9-A44F-B912EF50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3638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Companies, branches, departments, users, roles, and permissions create the governance foundation for Catering and every other line.</a:t>
            </a:r>
          </a:p>
        </p:txBody>
      </p:sp>
      <p:sp>
        <p:nvSpPr>
          <p:cNvPr id="9" name="item-title">
            <a:extLst xmlns:a="http://schemas.openxmlformats.org/drawingml/2006/main">
              <a:ext uri="{FF2B5EF4-FFF2-40B4-BE49-F238E27FC236}">
                <a16:creationId xmlns:a16="http://schemas.microsoft.com/office/drawing/2014/main" id="{F18CB38A-D6DB-40A4-B1F4-DB127F2F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241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Company and branch model</a:t>
            </a:r>
          </a:p>
        </p:txBody>
      </p:sp>
      <p:sp>
        <p:nvSpPr>
          <p:cNvPr id="10" name="item-body">
            <a:extLst xmlns:a="http://schemas.openxmlformats.org/drawingml/2006/main">
              <a:ext uri="{FF2B5EF4-FFF2-40B4-BE49-F238E27FC236}">
                <a16:creationId xmlns:a16="http://schemas.microsoft.com/office/drawing/2014/main" id="{129F2469-A2CA-4B65-B240-21C5FB2C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147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Separate operating units without losing group oversight.</a:t>
            </a:r>
          </a:p>
        </p:txBody>
      </p:sp>
      <p:sp>
        <p:nvSpPr>
          <p:cNvPr id="11" name="item-rule">
            <a:extLst xmlns:a="http://schemas.openxmlformats.org/drawingml/2006/main">
              <a:ext uri="{FF2B5EF4-FFF2-40B4-BE49-F238E27FC236}">
                <a16:creationId xmlns:a16="http://schemas.microsoft.com/office/drawing/2014/main" id="{158CEE79-7552-48FE-BF34-D3D664C4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147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tem-title">
            <a:extLst xmlns:a="http://schemas.openxmlformats.org/drawingml/2006/main">
              <a:ext uri="{FF2B5EF4-FFF2-40B4-BE49-F238E27FC236}">
                <a16:creationId xmlns:a16="http://schemas.microsoft.com/office/drawing/2014/main" id="{EB4F8D1E-E42B-4C75-B77E-6A8F0EB8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528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Departments and responsibilities</a:t>
            </a:r>
          </a:p>
        </p:txBody>
      </p:sp>
      <p:sp>
        <p:nvSpPr>
          <p:cNvPr id="13" name="item-body">
            <a:extLst xmlns:a="http://schemas.openxmlformats.org/drawingml/2006/main">
              <a:ext uri="{FF2B5EF4-FFF2-40B4-BE49-F238E27FC236}">
                <a16:creationId xmlns:a16="http://schemas.microsoft.com/office/drawing/2014/main" id="{F7397F92-9C46-46C0-9000-7ED66CF3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434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Operational teams are represented directly in the system.</a:t>
            </a:r>
          </a:p>
        </p:txBody>
      </p:sp>
      <p:sp>
        <p:nvSpPr>
          <p:cNvPr id="14" name="item-rule">
            <a:extLst xmlns:a="http://schemas.openxmlformats.org/drawingml/2006/main">
              <a:ext uri="{FF2B5EF4-FFF2-40B4-BE49-F238E27FC236}">
                <a16:creationId xmlns:a16="http://schemas.microsoft.com/office/drawing/2014/main" id="{BED1C3C8-5444-48EC-A556-9CC3ACA8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434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tem-title">
            <a:extLst xmlns:a="http://schemas.openxmlformats.org/drawingml/2006/main">
              <a:ext uri="{FF2B5EF4-FFF2-40B4-BE49-F238E27FC236}">
                <a16:creationId xmlns:a16="http://schemas.microsoft.com/office/drawing/2014/main" id="{A2B6CADE-AB74-4430-9BE1-B5DEAF17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815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Roles and permissions</a:t>
            </a:r>
          </a:p>
        </p:txBody>
      </p:sp>
      <p:sp>
        <p:nvSpPr>
          <p:cNvPr id="16" name="item-body">
            <a:extLst xmlns:a="http://schemas.openxmlformats.org/drawingml/2006/main">
              <a:ext uri="{FF2B5EF4-FFF2-40B4-BE49-F238E27FC236}">
                <a16:creationId xmlns:a16="http://schemas.microsoft.com/office/drawing/2014/main" id="{00C372AA-A752-4423-9407-241B67C0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3721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Users see the menus and actions relevant to their responsibilities.</a:t>
            </a:r>
          </a:p>
        </p:txBody>
      </p:sp>
      <p:sp>
        <p:nvSpPr>
          <p:cNvPr id="17" name="item-rule">
            <a:extLst xmlns:a="http://schemas.openxmlformats.org/drawingml/2006/main">
              <a:ext uri="{FF2B5EF4-FFF2-40B4-BE49-F238E27FC236}">
                <a16:creationId xmlns:a16="http://schemas.microsoft.com/office/drawing/2014/main" id="{42100A7E-DA32-4937-9E9A-46E9442D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7721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982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F3171CC-ED5A-4531-AB91-6F05B58B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CATERING WALKTHROUGH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ADA579-F10C-4251-AE8A-936EFFFD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Catering dashboard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55EAC4A-889E-43F4-BDF5-34DB5B2D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The management entry point for reviewing Catering performance and exceptions.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407444C4-C6E9-4D7F-A740-4116CBBB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Catering walkthrough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536CF98-CB15-4FBF-9617-A5172571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6" name="focus-panel">
            <a:extLst xmlns:a="http://schemas.openxmlformats.org/drawingml/2006/main">
              <a:ext uri="{FF2B5EF4-FFF2-40B4-BE49-F238E27FC236}">
                <a16:creationId xmlns:a16="http://schemas.microsoft.com/office/drawing/2014/main" id="{5E2C0F26-4D8D-4897-BB68-AF20A2F7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44958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7" name="focus-title">
            <a:extLst xmlns:a="http://schemas.openxmlformats.org/drawingml/2006/main">
              <a:ext uri="{FF2B5EF4-FFF2-40B4-BE49-F238E27FC236}">
                <a16:creationId xmlns:a16="http://schemas.microsoft.com/office/drawing/2014/main" id="{5AD117D6-7CB6-401F-94BC-9D5F369E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From activity to visibility</a:t>
            </a:r>
          </a:p>
        </p:txBody>
      </p:sp>
      <p:sp>
        <p:nvSpPr>
          <p:cNvPr id="8" name="focus-body">
            <a:extLst xmlns:a="http://schemas.openxmlformats.org/drawingml/2006/main">
              <a:ext uri="{FF2B5EF4-FFF2-40B4-BE49-F238E27FC236}">
                <a16:creationId xmlns:a16="http://schemas.microsoft.com/office/drawing/2014/main" id="{50D35E66-483B-4783-AA77-ADE9C06F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3638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The dashboard should be positioned as the first place management checks operational health before drilling into contracts, schedules, deliveries, and reports.</a:t>
            </a:r>
          </a:p>
        </p:txBody>
      </p:sp>
      <p:sp>
        <p:nvSpPr>
          <p:cNvPr id="9" name="item-title">
            <a:extLst xmlns:a="http://schemas.openxmlformats.org/drawingml/2006/main">
              <a:ext uri="{FF2B5EF4-FFF2-40B4-BE49-F238E27FC236}">
                <a16:creationId xmlns:a16="http://schemas.microsoft.com/office/drawing/2014/main" id="{FDF88058-96CC-42A3-987B-17DAA530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241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Operational overview</a:t>
            </a:r>
          </a:p>
        </p:txBody>
      </p:sp>
      <p:sp>
        <p:nvSpPr>
          <p:cNvPr id="10" name="item-body">
            <a:extLst xmlns:a="http://schemas.openxmlformats.org/drawingml/2006/main">
              <a:ext uri="{FF2B5EF4-FFF2-40B4-BE49-F238E27FC236}">
                <a16:creationId xmlns:a16="http://schemas.microsoft.com/office/drawing/2014/main" id="{4EE3F0D1-220A-4861-8154-18DD523B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147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A management lens on Catering activity and follow-up.</a:t>
            </a:r>
          </a:p>
        </p:txBody>
      </p:sp>
      <p:sp>
        <p:nvSpPr>
          <p:cNvPr id="11" name="item-rule">
            <a:extLst xmlns:a="http://schemas.openxmlformats.org/drawingml/2006/main">
              <a:ext uri="{FF2B5EF4-FFF2-40B4-BE49-F238E27FC236}">
                <a16:creationId xmlns:a16="http://schemas.microsoft.com/office/drawing/2014/main" id="{8A5066CF-E09E-47C8-AB06-B83C6A30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147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tem-title">
            <a:extLst xmlns:a="http://schemas.openxmlformats.org/drawingml/2006/main">
              <a:ext uri="{FF2B5EF4-FFF2-40B4-BE49-F238E27FC236}">
                <a16:creationId xmlns:a16="http://schemas.microsoft.com/office/drawing/2014/main" id="{F0F22510-7438-4EF3-A65F-5D1C3BA1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528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Fast drill-down</a:t>
            </a:r>
          </a:p>
        </p:txBody>
      </p:sp>
      <p:sp>
        <p:nvSpPr>
          <p:cNvPr id="13" name="item-body">
            <a:extLst xmlns:a="http://schemas.openxmlformats.org/drawingml/2006/main">
              <a:ext uri="{FF2B5EF4-FFF2-40B4-BE49-F238E27FC236}">
                <a16:creationId xmlns:a16="http://schemas.microsoft.com/office/drawing/2014/main" id="{8D6C1BC0-4B2C-49D5-92FA-98F77C4E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434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Move from summary to contracts, schedules, deliveries, and reports.</a:t>
            </a:r>
          </a:p>
        </p:txBody>
      </p:sp>
      <p:sp>
        <p:nvSpPr>
          <p:cNvPr id="14" name="item-rule">
            <a:extLst xmlns:a="http://schemas.openxmlformats.org/drawingml/2006/main">
              <a:ext uri="{FF2B5EF4-FFF2-40B4-BE49-F238E27FC236}">
                <a16:creationId xmlns:a16="http://schemas.microsoft.com/office/drawing/2014/main" id="{A720BD53-7B29-42B6-BF6B-234B2AD4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434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tem-title">
            <a:extLst xmlns:a="http://schemas.openxmlformats.org/drawingml/2006/main">
              <a:ext uri="{FF2B5EF4-FFF2-40B4-BE49-F238E27FC236}">
                <a16:creationId xmlns:a16="http://schemas.microsoft.com/office/drawing/2014/main" id="{2DDCAED7-D1FE-480A-A67C-3F94E295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815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Executive rhythm</a:t>
            </a:r>
          </a:p>
        </p:txBody>
      </p:sp>
      <p:sp>
        <p:nvSpPr>
          <p:cNvPr id="16" name="item-body">
            <a:extLst xmlns:a="http://schemas.openxmlformats.org/drawingml/2006/main">
              <a:ext uri="{FF2B5EF4-FFF2-40B4-BE49-F238E27FC236}">
                <a16:creationId xmlns:a16="http://schemas.microsoft.com/office/drawing/2014/main" id="{151C8B47-D1F3-49C0-8AEC-1F8447D5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3721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Supports daily or weekly management review routines.</a:t>
            </a:r>
          </a:p>
        </p:txBody>
      </p:sp>
      <p:sp>
        <p:nvSpPr>
          <p:cNvPr id="17" name="item-rule">
            <a:extLst xmlns:a="http://schemas.openxmlformats.org/drawingml/2006/main">
              <a:ext uri="{FF2B5EF4-FFF2-40B4-BE49-F238E27FC236}">
                <a16:creationId xmlns:a16="http://schemas.microsoft.com/office/drawing/2014/main" id="{8C5062C6-72BA-457D-9EE0-B5A0013A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7721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99194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F3E4B8E-4918-413F-807C-64B98177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CATERING WALKTHROUGH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BB5F3B-04E4-4D42-A7A2-BDCA6880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Contracts define the commitment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5C972E7-1021-4B6A-8AA6-43445EF9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Customer agreements become operational records the team can execute against.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FBA67165-EEB2-4809-87FC-5CD9E0DE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Catering walkthrough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A33CFC8-4F65-46CA-8DF7-11D5170D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6" name="focus-panel">
            <a:extLst xmlns:a="http://schemas.openxmlformats.org/drawingml/2006/main">
              <a:ext uri="{FF2B5EF4-FFF2-40B4-BE49-F238E27FC236}">
                <a16:creationId xmlns:a16="http://schemas.microsoft.com/office/drawing/2014/main" id="{99EB0630-97D6-4AFE-A9AE-349FEFF9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44958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7" name="focus-title">
            <a:extLst xmlns:a="http://schemas.openxmlformats.org/drawingml/2006/main">
              <a:ext uri="{FF2B5EF4-FFF2-40B4-BE49-F238E27FC236}">
                <a16:creationId xmlns:a16="http://schemas.microsoft.com/office/drawing/2014/main" id="{E608E262-715C-40A4-9697-9C13A05D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Contract control</a:t>
            </a:r>
          </a:p>
        </p:txBody>
      </p:sp>
      <p:sp>
        <p:nvSpPr>
          <p:cNvPr id="8" name="focus-body">
            <a:extLst xmlns:a="http://schemas.openxmlformats.org/drawingml/2006/main">
              <a:ext uri="{FF2B5EF4-FFF2-40B4-BE49-F238E27FC236}">
                <a16:creationId xmlns:a16="http://schemas.microsoft.com/office/drawing/2014/main" id="{936FC816-3439-4737-A659-EE60A740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3638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Catering contracts capture the customer relationship, service expectations, addendums, and the commitments that drive planning.</a:t>
            </a:r>
          </a:p>
        </p:txBody>
      </p:sp>
      <p:sp>
        <p:nvSpPr>
          <p:cNvPr id="9" name="item-title">
            <a:extLst xmlns:a="http://schemas.openxmlformats.org/drawingml/2006/main">
              <a:ext uri="{FF2B5EF4-FFF2-40B4-BE49-F238E27FC236}">
                <a16:creationId xmlns:a16="http://schemas.microsoft.com/office/drawing/2014/main" id="{EF8C0850-693A-48F7-91C1-A20D373A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241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Customer agreements</a:t>
            </a:r>
          </a:p>
        </p:txBody>
      </p:sp>
      <p:sp>
        <p:nvSpPr>
          <p:cNvPr id="10" name="item-body">
            <a:extLst xmlns:a="http://schemas.openxmlformats.org/drawingml/2006/main">
              <a:ext uri="{FF2B5EF4-FFF2-40B4-BE49-F238E27FC236}">
                <a16:creationId xmlns:a16="http://schemas.microsoft.com/office/drawing/2014/main" id="{DB998A85-E5E4-4205-B2E0-9AFE2151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147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Keep contract terms connected to daily operations.</a:t>
            </a:r>
          </a:p>
        </p:txBody>
      </p:sp>
      <p:sp>
        <p:nvSpPr>
          <p:cNvPr id="11" name="item-rule">
            <a:extLst xmlns:a="http://schemas.openxmlformats.org/drawingml/2006/main">
              <a:ext uri="{FF2B5EF4-FFF2-40B4-BE49-F238E27FC236}">
                <a16:creationId xmlns:a16="http://schemas.microsoft.com/office/drawing/2014/main" id="{420EC6A0-038F-4330-90B4-61E74178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147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tem-title">
            <a:extLst xmlns:a="http://schemas.openxmlformats.org/drawingml/2006/main">
              <a:ext uri="{FF2B5EF4-FFF2-40B4-BE49-F238E27FC236}">
                <a16:creationId xmlns:a16="http://schemas.microsoft.com/office/drawing/2014/main" id="{DAC94B4A-0BC3-4B39-B8B7-119A5938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528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Addendums</a:t>
            </a:r>
          </a:p>
        </p:txBody>
      </p:sp>
      <p:sp>
        <p:nvSpPr>
          <p:cNvPr id="13" name="item-body">
            <a:extLst xmlns:a="http://schemas.openxmlformats.org/drawingml/2006/main">
              <a:ext uri="{FF2B5EF4-FFF2-40B4-BE49-F238E27FC236}">
                <a16:creationId xmlns:a16="http://schemas.microsoft.com/office/drawing/2014/main" id="{E8E8D4C3-6E2C-47AF-8C1F-7554C78F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434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Track changes without losing the contract history.</a:t>
            </a:r>
          </a:p>
        </p:txBody>
      </p:sp>
      <p:sp>
        <p:nvSpPr>
          <p:cNvPr id="14" name="item-rule">
            <a:extLst xmlns:a="http://schemas.openxmlformats.org/drawingml/2006/main">
              <a:ext uri="{FF2B5EF4-FFF2-40B4-BE49-F238E27FC236}">
                <a16:creationId xmlns:a16="http://schemas.microsoft.com/office/drawing/2014/main" id="{451ADFBC-E92D-4515-A409-DBC62DEC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434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tem-title">
            <a:extLst xmlns:a="http://schemas.openxmlformats.org/drawingml/2006/main">
              <a:ext uri="{FF2B5EF4-FFF2-40B4-BE49-F238E27FC236}">
                <a16:creationId xmlns:a16="http://schemas.microsoft.com/office/drawing/2014/main" id="{D08EEA74-99F0-438D-B71C-104E4EED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815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Operational commitments</a:t>
            </a:r>
          </a:p>
        </p:txBody>
      </p:sp>
      <p:sp>
        <p:nvSpPr>
          <p:cNvPr id="16" name="item-body">
            <a:extLst xmlns:a="http://schemas.openxmlformats.org/drawingml/2006/main">
              <a:ext uri="{FF2B5EF4-FFF2-40B4-BE49-F238E27FC236}">
                <a16:creationId xmlns:a16="http://schemas.microsoft.com/office/drawing/2014/main" id="{E48239F9-033D-4E7B-AC57-FBC9457C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3721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Use the contract as the anchor for schedules and reports.</a:t>
            </a:r>
          </a:p>
        </p:txBody>
      </p:sp>
      <p:sp>
        <p:nvSpPr>
          <p:cNvPr id="17" name="item-rule">
            <a:extLst xmlns:a="http://schemas.openxmlformats.org/drawingml/2006/main">
              <a:ext uri="{FF2B5EF4-FFF2-40B4-BE49-F238E27FC236}">
                <a16:creationId xmlns:a16="http://schemas.microsoft.com/office/drawing/2014/main" id="{1DFFAE62-4CA1-4E64-A82D-A3621F95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7721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68079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D6D35D2-4BB1-43C3-B1C4-CFBBC195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CATERING WALKTHROUGH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9BDC7F-F2A6-40A4-ACC7-107E8269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Meals and planning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FAC7217-7D3B-44DE-94C8-866D2991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Meals become structured definitions instead of informal descriptions.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82E7CD71-D65C-4690-A44F-60811D2F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Catering walkthrough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68F0554-FE65-40D0-81D0-2333707A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6" name="focus-panel">
            <a:extLst xmlns:a="http://schemas.openxmlformats.org/drawingml/2006/main">
              <a:ext uri="{FF2B5EF4-FFF2-40B4-BE49-F238E27FC236}">
                <a16:creationId xmlns:a16="http://schemas.microsoft.com/office/drawing/2014/main" id="{43383AED-227C-493C-AB95-130BE46E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44958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7" name="focus-title">
            <a:extLst xmlns:a="http://schemas.openxmlformats.org/drawingml/2006/main">
              <a:ext uri="{FF2B5EF4-FFF2-40B4-BE49-F238E27FC236}">
                <a16:creationId xmlns:a16="http://schemas.microsoft.com/office/drawing/2014/main" id="{690E9EA5-A6C1-4C4B-9874-8CB5CAAE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Planning foundation</a:t>
            </a:r>
          </a:p>
        </p:txBody>
      </p:sp>
      <p:sp>
        <p:nvSpPr>
          <p:cNvPr id="8" name="focus-body">
            <a:extLst xmlns:a="http://schemas.openxmlformats.org/drawingml/2006/main">
              <a:ext uri="{FF2B5EF4-FFF2-40B4-BE49-F238E27FC236}">
                <a16:creationId xmlns:a16="http://schemas.microsoft.com/office/drawing/2014/main" id="{7A822026-46A3-4C9F-BBF1-FBA0DCCC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3638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Meal definitions and components help standardize what is being prepared, served, and measured across Catering operations.</a:t>
            </a:r>
          </a:p>
        </p:txBody>
      </p:sp>
      <p:sp>
        <p:nvSpPr>
          <p:cNvPr id="9" name="item-title">
            <a:extLst xmlns:a="http://schemas.openxmlformats.org/drawingml/2006/main">
              <a:ext uri="{FF2B5EF4-FFF2-40B4-BE49-F238E27FC236}">
                <a16:creationId xmlns:a16="http://schemas.microsoft.com/office/drawing/2014/main" id="{01A82244-300E-41C1-9DA9-0782FB19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241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Meal definitions</a:t>
            </a:r>
          </a:p>
        </p:txBody>
      </p:sp>
      <p:sp>
        <p:nvSpPr>
          <p:cNvPr id="10" name="item-body">
            <a:extLst xmlns:a="http://schemas.openxmlformats.org/drawingml/2006/main">
              <a:ext uri="{FF2B5EF4-FFF2-40B4-BE49-F238E27FC236}">
                <a16:creationId xmlns:a16="http://schemas.microsoft.com/office/drawing/2014/main" id="{ACD151A9-B3F0-48B6-ACC3-65F6512F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147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Standard names and details for Catering services.</a:t>
            </a:r>
          </a:p>
        </p:txBody>
      </p:sp>
      <p:sp>
        <p:nvSpPr>
          <p:cNvPr id="11" name="item-rule">
            <a:extLst xmlns:a="http://schemas.openxmlformats.org/drawingml/2006/main">
              <a:ext uri="{FF2B5EF4-FFF2-40B4-BE49-F238E27FC236}">
                <a16:creationId xmlns:a16="http://schemas.microsoft.com/office/drawing/2014/main" id="{13FC7675-7301-4735-84DD-2027ED40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147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tem-title">
            <a:extLst xmlns:a="http://schemas.openxmlformats.org/drawingml/2006/main">
              <a:ext uri="{FF2B5EF4-FFF2-40B4-BE49-F238E27FC236}">
                <a16:creationId xmlns:a16="http://schemas.microsoft.com/office/drawing/2014/main" id="{5EBF7A6A-A4AF-424E-81C2-6020FD2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528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Components</a:t>
            </a:r>
          </a:p>
        </p:txBody>
      </p:sp>
      <p:sp>
        <p:nvSpPr>
          <p:cNvPr id="13" name="item-body">
            <a:extLst xmlns:a="http://schemas.openxmlformats.org/drawingml/2006/main">
              <a:ext uri="{FF2B5EF4-FFF2-40B4-BE49-F238E27FC236}">
                <a16:creationId xmlns:a16="http://schemas.microsoft.com/office/drawing/2014/main" id="{90AF17A8-C14A-434B-B710-708FC11F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434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A foundation for operational clarity and future costing discipline.</a:t>
            </a:r>
          </a:p>
        </p:txBody>
      </p:sp>
      <p:sp>
        <p:nvSpPr>
          <p:cNvPr id="14" name="item-rule">
            <a:extLst xmlns:a="http://schemas.openxmlformats.org/drawingml/2006/main">
              <a:ext uri="{FF2B5EF4-FFF2-40B4-BE49-F238E27FC236}">
                <a16:creationId xmlns:a16="http://schemas.microsoft.com/office/drawing/2014/main" id="{9085CAB3-CFE0-42A4-B62B-87A8E34C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434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tem-title">
            <a:extLst xmlns:a="http://schemas.openxmlformats.org/drawingml/2006/main">
              <a:ext uri="{FF2B5EF4-FFF2-40B4-BE49-F238E27FC236}">
                <a16:creationId xmlns:a16="http://schemas.microsoft.com/office/drawing/2014/main" id="{CB442191-79B8-412B-A8F8-1DBC9FB8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815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Compliance readiness</a:t>
            </a:r>
          </a:p>
        </p:txBody>
      </p:sp>
      <p:sp>
        <p:nvSpPr>
          <p:cNvPr id="16" name="item-body">
            <a:extLst xmlns:a="http://schemas.openxmlformats.org/drawingml/2006/main">
              <a:ext uri="{FF2B5EF4-FFF2-40B4-BE49-F238E27FC236}">
                <a16:creationId xmlns:a16="http://schemas.microsoft.com/office/drawing/2014/main" id="{BB4C22AB-CCED-4BB3-BBFD-0D5787B0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3721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Supports clearer tracking of service details and requirements.</a:t>
            </a:r>
          </a:p>
        </p:txBody>
      </p:sp>
      <p:sp>
        <p:nvSpPr>
          <p:cNvPr id="17" name="item-rule">
            <a:extLst xmlns:a="http://schemas.openxmlformats.org/drawingml/2006/main">
              <a:ext uri="{FF2B5EF4-FFF2-40B4-BE49-F238E27FC236}">
                <a16:creationId xmlns:a16="http://schemas.microsoft.com/office/drawing/2014/main" id="{A3FA76E4-E039-4D66-A298-3E8D8486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7721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88679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35B6AEA-CC7D-4763-9D00-366606FA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CATERING WALKTHROUGH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64428C-6772-446B-8B2B-B727EC6D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Locations and squares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D1646CB-925F-4777-B405-528825A3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The system models where Catering work actually happens.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7BAECB95-7250-408D-BF8E-98E30AB7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Catering walkthrough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E4DBA4E-AEBB-498B-83A3-4699CFE8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6" name="focus-panel">
            <a:extLst xmlns:a="http://schemas.openxmlformats.org/drawingml/2006/main">
              <a:ext uri="{FF2B5EF4-FFF2-40B4-BE49-F238E27FC236}">
                <a16:creationId xmlns:a16="http://schemas.microsoft.com/office/drawing/2014/main" id="{734F3FFD-6198-4497-B1CB-F77E3244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44958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7" name="focus-title">
            <a:extLst xmlns:a="http://schemas.openxmlformats.org/drawingml/2006/main">
              <a:ext uri="{FF2B5EF4-FFF2-40B4-BE49-F238E27FC236}">
                <a16:creationId xmlns:a16="http://schemas.microsoft.com/office/drawing/2014/main" id="{D60B2D49-2B71-4C56-A196-E52E719F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Location-level visibility</a:t>
            </a:r>
          </a:p>
        </p:txBody>
      </p:sp>
      <p:sp>
        <p:nvSpPr>
          <p:cNvPr id="8" name="focus-body">
            <a:extLst xmlns:a="http://schemas.openxmlformats.org/drawingml/2006/main">
              <a:ext uri="{FF2B5EF4-FFF2-40B4-BE49-F238E27FC236}">
                <a16:creationId xmlns:a16="http://schemas.microsoft.com/office/drawing/2014/main" id="{993D56B4-1BEA-4ED5-B2D0-982EE607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3638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Areas, locations, and squares give operations a real distribution structure so quantities and assignments are not managed as generic totals.</a:t>
            </a:r>
          </a:p>
        </p:txBody>
      </p:sp>
      <p:sp>
        <p:nvSpPr>
          <p:cNvPr id="9" name="item-title">
            <a:extLst xmlns:a="http://schemas.openxmlformats.org/drawingml/2006/main">
              <a:ext uri="{FF2B5EF4-FFF2-40B4-BE49-F238E27FC236}">
                <a16:creationId xmlns:a16="http://schemas.microsoft.com/office/drawing/2014/main" id="{16CF3056-50A5-4A60-821B-5F93E318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241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Areas</a:t>
            </a:r>
          </a:p>
        </p:txBody>
      </p:sp>
      <p:sp>
        <p:nvSpPr>
          <p:cNvPr id="10" name="item-body">
            <a:extLst xmlns:a="http://schemas.openxmlformats.org/drawingml/2006/main">
              <a:ext uri="{FF2B5EF4-FFF2-40B4-BE49-F238E27FC236}">
                <a16:creationId xmlns:a16="http://schemas.microsoft.com/office/drawing/2014/main" id="{13E35023-484C-46A2-AD55-F8AE677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147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Group operational zones for easier planning.</a:t>
            </a:r>
          </a:p>
        </p:txBody>
      </p:sp>
      <p:sp>
        <p:nvSpPr>
          <p:cNvPr id="11" name="item-rule">
            <a:extLst xmlns:a="http://schemas.openxmlformats.org/drawingml/2006/main">
              <a:ext uri="{FF2B5EF4-FFF2-40B4-BE49-F238E27FC236}">
                <a16:creationId xmlns:a16="http://schemas.microsoft.com/office/drawing/2014/main" id="{A78AE507-E6EE-4650-B73C-7466A2D8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147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tem-title">
            <a:extLst xmlns:a="http://schemas.openxmlformats.org/drawingml/2006/main">
              <a:ext uri="{FF2B5EF4-FFF2-40B4-BE49-F238E27FC236}">
                <a16:creationId xmlns:a16="http://schemas.microsoft.com/office/drawing/2014/main" id="{A7881F57-2498-4115-BEAB-A9E7998E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528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Squares</a:t>
            </a:r>
          </a:p>
        </p:txBody>
      </p:sp>
      <p:sp>
        <p:nvSpPr>
          <p:cNvPr id="13" name="item-body">
            <a:extLst xmlns:a="http://schemas.openxmlformats.org/drawingml/2006/main">
              <a:ext uri="{FF2B5EF4-FFF2-40B4-BE49-F238E27FC236}">
                <a16:creationId xmlns:a16="http://schemas.microsoft.com/office/drawing/2014/main" id="{007F0A5B-5A6A-4140-A1DC-7EDB2070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434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Track specific distribution points or service locations.</a:t>
            </a:r>
          </a:p>
        </p:txBody>
      </p:sp>
      <p:sp>
        <p:nvSpPr>
          <p:cNvPr id="14" name="item-rule">
            <a:extLst xmlns:a="http://schemas.openxmlformats.org/drawingml/2006/main">
              <a:ext uri="{FF2B5EF4-FFF2-40B4-BE49-F238E27FC236}">
                <a16:creationId xmlns:a16="http://schemas.microsoft.com/office/drawing/2014/main" id="{86259000-4B69-47A9-B8B7-47D30E0D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434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tem-title">
            <a:extLst xmlns:a="http://schemas.openxmlformats.org/drawingml/2006/main">
              <a:ext uri="{FF2B5EF4-FFF2-40B4-BE49-F238E27FC236}">
                <a16:creationId xmlns:a16="http://schemas.microsoft.com/office/drawing/2014/main" id="{5005077E-DBC6-4ACA-B411-F9945C99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815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Management view</a:t>
            </a:r>
          </a:p>
        </p:txBody>
      </p:sp>
      <p:sp>
        <p:nvSpPr>
          <p:cNvPr id="16" name="item-body">
            <a:extLst xmlns:a="http://schemas.openxmlformats.org/drawingml/2006/main">
              <a:ext uri="{FF2B5EF4-FFF2-40B4-BE49-F238E27FC236}">
                <a16:creationId xmlns:a16="http://schemas.microsoft.com/office/drawing/2014/main" id="{7EB0977A-2D52-4629-8765-2EED761E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3721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See work by location instead of only by customer or contract.</a:t>
            </a:r>
          </a:p>
        </p:txBody>
      </p:sp>
      <p:sp>
        <p:nvSpPr>
          <p:cNvPr id="17" name="item-rule">
            <a:extLst xmlns:a="http://schemas.openxmlformats.org/drawingml/2006/main">
              <a:ext uri="{FF2B5EF4-FFF2-40B4-BE49-F238E27FC236}">
                <a16:creationId xmlns:a16="http://schemas.microsoft.com/office/drawing/2014/main" id="{C2343FBC-FDB7-4066-A08B-8408B44E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7721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29297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F106EA1-2F1C-4424-841E-ACC3EB1E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CATERING WALKTHROUGH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B120C4-7C95-4CF3-A1AA-FA0E9486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Daily schedules and allocations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E68B75A-F0C0-45AA-B550-96FB9AA7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This is the core daily control point for Catering execution.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1F47C813-8AAE-4CF2-B530-69F599CD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Catering walkthrough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7C23BB5-10ED-4B4B-B948-82089F43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6" name="focus-panel">
            <a:extLst xmlns:a="http://schemas.openxmlformats.org/drawingml/2006/main">
              <a:ext uri="{FF2B5EF4-FFF2-40B4-BE49-F238E27FC236}">
                <a16:creationId xmlns:a16="http://schemas.microsoft.com/office/drawing/2014/main" id="{930CB4CD-B274-4AAF-A083-F1E00A32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44958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7" name="focus-title">
            <a:extLst xmlns:a="http://schemas.openxmlformats.org/drawingml/2006/main">
              <a:ext uri="{FF2B5EF4-FFF2-40B4-BE49-F238E27FC236}">
                <a16:creationId xmlns:a16="http://schemas.microsoft.com/office/drawing/2014/main" id="{0CDF7BEA-AA99-4D23-91F2-78D91910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Plan versus actual</a:t>
            </a:r>
          </a:p>
        </p:txBody>
      </p:sp>
      <p:sp>
        <p:nvSpPr>
          <p:cNvPr id="8" name="focus-body">
            <a:extLst xmlns:a="http://schemas.openxmlformats.org/drawingml/2006/main">
              <a:ext uri="{FF2B5EF4-FFF2-40B4-BE49-F238E27FC236}">
                <a16:creationId xmlns:a16="http://schemas.microsoft.com/office/drawing/2014/main" id="{32C52D14-FCCA-4654-A06D-6966071D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3638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Schedules capture planned quantity, received quantity, distributed quantity, allocations, and variance notes so the daily story is measurable.</a:t>
            </a:r>
          </a:p>
        </p:txBody>
      </p:sp>
      <p:sp>
        <p:nvSpPr>
          <p:cNvPr id="9" name="item-title">
            <a:extLst xmlns:a="http://schemas.openxmlformats.org/drawingml/2006/main">
              <a:ext uri="{FF2B5EF4-FFF2-40B4-BE49-F238E27FC236}">
                <a16:creationId xmlns:a16="http://schemas.microsoft.com/office/drawing/2014/main" id="{B5C4B72F-C5CC-4862-A3EA-73CE3287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241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Planned quantity</a:t>
            </a:r>
          </a:p>
        </p:txBody>
      </p:sp>
      <p:sp>
        <p:nvSpPr>
          <p:cNvPr id="10" name="item-body">
            <a:extLst xmlns:a="http://schemas.openxmlformats.org/drawingml/2006/main">
              <a:ext uri="{FF2B5EF4-FFF2-40B4-BE49-F238E27FC236}">
                <a16:creationId xmlns:a16="http://schemas.microsoft.com/office/drawing/2014/main" id="{D699A663-7216-47C2-87E2-28D97B79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147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What the operation expected to serve or distribute.</a:t>
            </a:r>
          </a:p>
        </p:txBody>
      </p:sp>
      <p:sp>
        <p:nvSpPr>
          <p:cNvPr id="11" name="item-rule">
            <a:extLst xmlns:a="http://schemas.openxmlformats.org/drawingml/2006/main">
              <a:ext uri="{FF2B5EF4-FFF2-40B4-BE49-F238E27FC236}">
                <a16:creationId xmlns:a16="http://schemas.microsoft.com/office/drawing/2014/main" id="{46D99402-A6DE-4E74-A3E2-47505138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147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tem-title">
            <a:extLst xmlns:a="http://schemas.openxmlformats.org/drawingml/2006/main">
              <a:ext uri="{FF2B5EF4-FFF2-40B4-BE49-F238E27FC236}">
                <a16:creationId xmlns:a16="http://schemas.microsoft.com/office/drawing/2014/main" id="{0DB30FB4-C7B9-4341-88F5-5BC12BE9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528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Received and distributed actuals</a:t>
            </a:r>
          </a:p>
        </p:txBody>
      </p:sp>
      <p:sp>
        <p:nvSpPr>
          <p:cNvPr id="13" name="item-body">
            <a:extLst xmlns:a="http://schemas.openxmlformats.org/drawingml/2006/main">
              <a:ext uri="{FF2B5EF4-FFF2-40B4-BE49-F238E27FC236}">
                <a16:creationId xmlns:a16="http://schemas.microsoft.com/office/drawing/2014/main" id="{25B106AC-D903-455B-A060-D59CCB33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434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What actually happened during execution.</a:t>
            </a:r>
          </a:p>
        </p:txBody>
      </p:sp>
      <p:sp>
        <p:nvSpPr>
          <p:cNvPr id="14" name="item-rule">
            <a:extLst xmlns:a="http://schemas.openxmlformats.org/drawingml/2006/main">
              <a:ext uri="{FF2B5EF4-FFF2-40B4-BE49-F238E27FC236}">
                <a16:creationId xmlns:a16="http://schemas.microsoft.com/office/drawing/2014/main" id="{1B6274D0-2F2D-4929-950C-229F479B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434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tem-title">
            <a:extLst xmlns:a="http://schemas.openxmlformats.org/drawingml/2006/main">
              <a:ext uri="{FF2B5EF4-FFF2-40B4-BE49-F238E27FC236}">
                <a16:creationId xmlns:a16="http://schemas.microsoft.com/office/drawing/2014/main" id="{EC1BC584-20FE-4341-8E41-400799CE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815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Variance notes</a:t>
            </a:r>
          </a:p>
        </p:txBody>
      </p:sp>
      <p:sp>
        <p:nvSpPr>
          <p:cNvPr id="16" name="item-body">
            <a:extLst xmlns:a="http://schemas.openxmlformats.org/drawingml/2006/main">
              <a:ext uri="{FF2B5EF4-FFF2-40B4-BE49-F238E27FC236}">
                <a16:creationId xmlns:a16="http://schemas.microsoft.com/office/drawing/2014/main" id="{7CF83110-FF4F-4240-A176-25029D31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3721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Why differences happened and what needs follow-up.</a:t>
            </a:r>
          </a:p>
        </p:txBody>
      </p:sp>
      <p:sp>
        <p:nvSpPr>
          <p:cNvPr id="17" name="item-rule">
            <a:extLst xmlns:a="http://schemas.openxmlformats.org/drawingml/2006/main">
              <a:ext uri="{FF2B5EF4-FFF2-40B4-BE49-F238E27FC236}">
                <a16:creationId xmlns:a16="http://schemas.microsoft.com/office/drawing/2014/main" id="{DD0B32EA-AEF9-4F3D-9E60-3BCBE3DC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7721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29799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C0521C8-C4B9-47A9-A1E2-2F1861D4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CATERING WALKTHROUGH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315464-CE3D-46A0-8AD1-33B73E15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Deliveries and assignments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F87C28A-1117-4C57-8738-BC1F36D2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Execution needs vehicles, employees, roles, and accountability.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9C1139AD-E794-4FD8-98E3-DFFF1774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Catering walkthrough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AD41DEB-3C69-49FF-8D96-1E71250F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15</a:t>
            </a:r>
          </a:p>
        </p:txBody>
      </p:sp>
      <p:sp>
        <p:nvSpPr>
          <p:cNvPr id="6" name="focus-panel">
            <a:extLst xmlns:a="http://schemas.openxmlformats.org/drawingml/2006/main">
              <a:ext uri="{FF2B5EF4-FFF2-40B4-BE49-F238E27FC236}">
                <a16:creationId xmlns:a16="http://schemas.microsoft.com/office/drawing/2014/main" id="{C58AB5E3-9F8D-46EB-B8F6-B2A1A50A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44958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7" name="focus-title">
            <a:extLst xmlns:a="http://schemas.openxmlformats.org/drawingml/2006/main">
              <a:ext uri="{FF2B5EF4-FFF2-40B4-BE49-F238E27FC236}">
                <a16:creationId xmlns:a16="http://schemas.microsoft.com/office/drawing/2014/main" id="{89AACF64-DBB4-4E72-BD35-EC5DE47A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Coordinated field work</a:t>
            </a:r>
          </a:p>
        </p:txBody>
      </p:sp>
      <p:sp>
        <p:nvSpPr>
          <p:cNvPr id="8" name="focus-body">
            <a:extLst xmlns:a="http://schemas.openxmlformats.org/drawingml/2006/main">
              <a:ext uri="{FF2B5EF4-FFF2-40B4-BE49-F238E27FC236}">
                <a16:creationId xmlns:a16="http://schemas.microsoft.com/office/drawing/2014/main" id="{0471ADF8-75F9-4626-AD62-0019C6A7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3638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Deliveries connect schedules with vehicles, while assignments clarify which employees are responsible for specific operational roles and locations.</a:t>
            </a:r>
          </a:p>
        </p:txBody>
      </p:sp>
      <p:sp>
        <p:nvSpPr>
          <p:cNvPr id="9" name="item-title">
            <a:extLst xmlns:a="http://schemas.openxmlformats.org/drawingml/2006/main">
              <a:ext uri="{FF2B5EF4-FFF2-40B4-BE49-F238E27FC236}">
                <a16:creationId xmlns:a16="http://schemas.microsoft.com/office/drawing/2014/main" id="{EF7C6B98-B741-4949-828C-2D85E867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241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Vehicle deliveries</a:t>
            </a:r>
          </a:p>
        </p:txBody>
      </p:sp>
      <p:sp>
        <p:nvSpPr>
          <p:cNvPr id="10" name="item-body">
            <a:extLst xmlns:a="http://schemas.openxmlformats.org/drawingml/2006/main">
              <a:ext uri="{FF2B5EF4-FFF2-40B4-BE49-F238E27FC236}">
                <a16:creationId xmlns:a16="http://schemas.microsoft.com/office/drawing/2014/main" id="{F367A482-5231-46BE-9499-5B48D4F3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147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Coordinate movement and delivery activity.</a:t>
            </a:r>
          </a:p>
        </p:txBody>
      </p:sp>
      <p:sp>
        <p:nvSpPr>
          <p:cNvPr id="11" name="item-rule">
            <a:extLst xmlns:a="http://schemas.openxmlformats.org/drawingml/2006/main">
              <a:ext uri="{FF2B5EF4-FFF2-40B4-BE49-F238E27FC236}">
                <a16:creationId xmlns:a16="http://schemas.microsoft.com/office/drawing/2014/main" id="{7CAE7547-EDE8-40A0-94F4-E0BB97F9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147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tem-title">
            <a:extLst xmlns:a="http://schemas.openxmlformats.org/drawingml/2006/main">
              <a:ext uri="{FF2B5EF4-FFF2-40B4-BE49-F238E27FC236}">
                <a16:creationId xmlns:a16="http://schemas.microsoft.com/office/drawing/2014/main" id="{F3F9B5D9-0181-4366-AE61-9414A264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528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Employee assignments</a:t>
            </a:r>
          </a:p>
        </p:txBody>
      </p:sp>
      <p:sp>
        <p:nvSpPr>
          <p:cNvPr id="13" name="item-body">
            <a:extLst xmlns:a="http://schemas.openxmlformats.org/drawingml/2006/main">
              <a:ext uri="{FF2B5EF4-FFF2-40B4-BE49-F238E27FC236}">
                <a16:creationId xmlns:a16="http://schemas.microsoft.com/office/drawing/2014/main" id="{CEA45E60-589B-4E72-93A5-0C7D05F2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434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Assign staff by contract, role, or location.</a:t>
            </a:r>
          </a:p>
        </p:txBody>
      </p:sp>
      <p:sp>
        <p:nvSpPr>
          <p:cNvPr id="14" name="item-rule">
            <a:extLst xmlns:a="http://schemas.openxmlformats.org/drawingml/2006/main">
              <a:ext uri="{FF2B5EF4-FFF2-40B4-BE49-F238E27FC236}">
                <a16:creationId xmlns:a16="http://schemas.microsoft.com/office/drawing/2014/main" id="{953F5958-184E-4150-B8A2-90AA3AC2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434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tem-title">
            <a:extLst xmlns:a="http://schemas.openxmlformats.org/drawingml/2006/main">
              <a:ext uri="{FF2B5EF4-FFF2-40B4-BE49-F238E27FC236}">
                <a16:creationId xmlns:a16="http://schemas.microsoft.com/office/drawing/2014/main" id="{7CD93353-3DE1-4177-A342-30E745F3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815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Operational accountability</a:t>
            </a:r>
          </a:p>
        </p:txBody>
      </p:sp>
      <p:sp>
        <p:nvSpPr>
          <p:cNvPr id="16" name="item-body">
            <a:extLst xmlns:a="http://schemas.openxmlformats.org/drawingml/2006/main">
              <a:ext uri="{FF2B5EF4-FFF2-40B4-BE49-F238E27FC236}">
                <a16:creationId xmlns:a16="http://schemas.microsoft.com/office/drawing/2014/main" id="{A55A9B2D-3404-44D5-B6E2-91B94DF1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3721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Make ownership visible before issues become management escalations.</a:t>
            </a:r>
          </a:p>
        </p:txBody>
      </p:sp>
      <p:sp>
        <p:nvSpPr>
          <p:cNvPr id="17" name="item-rule">
            <a:extLst xmlns:a="http://schemas.openxmlformats.org/drawingml/2006/main">
              <a:ext uri="{FF2B5EF4-FFF2-40B4-BE49-F238E27FC236}">
                <a16:creationId xmlns:a16="http://schemas.microsoft.com/office/drawing/2014/main" id="{64745456-52FA-4AED-AE09-5CB37DF2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7721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47981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06DCC77-539C-41D5-AD71-F83BE9E8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CATERING WALKTHROUGH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1CB57A-2186-4FA3-9C3C-7CAC0505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Catering reports close the loop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0E88B7A-9ABD-478A-96D6-A0EEA14F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Management review turns operational activity into follow-up action.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72489651-44E5-4663-A0BB-CA1F02AA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Catering walkthrough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95A3EF9-3C45-4F01-AF39-722802B5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16</a:t>
            </a:r>
          </a:p>
        </p:txBody>
      </p:sp>
      <p:sp>
        <p:nvSpPr>
          <p:cNvPr id="6" name="focus-panel">
            <a:extLst xmlns:a="http://schemas.openxmlformats.org/drawingml/2006/main">
              <a:ext uri="{FF2B5EF4-FFF2-40B4-BE49-F238E27FC236}">
                <a16:creationId xmlns:a16="http://schemas.microsoft.com/office/drawing/2014/main" id="{BD04FFB5-F251-4A3C-8638-5FD0300B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44958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7" name="focus-title">
            <a:extLst xmlns:a="http://schemas.openxmlformats.org/drawingml/2006/main">
              <a:ext uri="{FF2B5EF4-FFF2-40B4-BE49-F238E27FC236}">
                <a16:creationId xmlns:a16="http://schemas.microsoft.com/office/drawing/2014/main" id="{7C63D0E7-F27E-4E39-BFBD-83BA5991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From records to decisions</a:t>
            </a:r>
          </a:p>
        </p:txBody>
      </p:sp>
      <p:sp>
        <p:nvSpPr>
          <p:cNvPr id="8" name="focus-body">
            <a:extLst xmlns:a="http://schemas.openxmlformats.org/drawingml/2006/main">
              <a:ext uri="{FF2B5EF4-FFF2-40B4-BE49-F238E27FC236}">
                <a16:creationId xmlns:a16="http://schemas.microsoft.com/office/drawing/2014/main" id="{4B196460-0115-4EB5-858C-1490DD59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3638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Reports summarize Catering execution so leadership can review quantities, locations, exceptions, and performance trends.</a:t>
            </a:r>
          </a:p>
        </p:txBody>
      </p:sp>
      <p:sp>
        <p:nvSpPr>
          <p:cNvPr id="9" name="item-title">
            <a:extLst xmlns:a="http://schemas.openxmlformats.org/drawingml/2006/main">
              <a:ext uri="{FF2B5EF4-FFF2-40B4-BE49-F238E27FC236}">
                <a16:creationId xmlns:a16="http://schemas.microsoft.com/office/drawing/2014/main" id="{F2CDDC19-28FA-48ED-8ED2-8F85B2F3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241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Operations report</a:t>
            </a:r>
          </a:p>
        </p:txBody>
      </p:sp>
      <p:sp>
        <p:nvSpPr>
          <p:cNvPr id="10" name="item-body">
            <a:extLst xmlns:a="http://schemas.openxmlformats.org/drawingml/2006/main">
              <a:ext uri="{FF2B5EF4-FFF2-40B4-BE49-F238E27FC236}">
                <a16:creationId xmlns:a16="http://schemas.microsoft.com/office/drawing/2014/main" id="{DFD6A746-A712-43FE-9EA3-42C26F2F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147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Review Catering activity across contract and date filters.</a:t>
            </a:r>
          </a:p>
        </p:txBody>
      </p:sp>
      <p:sp>
        <p:nvSpPr>
          <p:cNvPr id="11" name="item-rule">
            <a:extLst xmlns:a="http://schemas.openxmlformats.org/drawingml/2006/main">
              <a:ext uri="{FF2B5EF4-FFF2-40B4-BE49-F238E27FC236}">
                <a16:creationId xmlns:a16="http://schemas.microsoft.com/office/drawing/2014/main" id="{93877C6F-32CD-4EFC-8715-A6DC4895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147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tem-title">
            <a:extLst xmlns:a="http://schemas.openxmlformats.org/drawingml/2006/main">
              <a:ext uri="{FF2B5EF4-FFF2-40B4-BE49-F238E27FC236}">
                <a16:creationId xmlns:a16="http://schemas.microsoft.com/office/drawing/2014/main" id="{C71E8A39-91C7-4FEB-9E8A-6596D3A9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528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Exception follow-up</a:t>
            </a:r>
          </a:p>
        </p:txBody>
      </p:sp>
      <p:sp>
        <p:nvSpPr>
          <p:cNvPr id="13" name="item-body">
            <a:extLst xmlns:a="http://schemas.openxmlformats.org/drawingml/2006/main">
              <a:ext uri="{FF2B5EF4-FFF2-40B4-BE49-F238E27FC236}">
                <a16:creationId xmlns:a16="http://schemas.microsoft.com/office/drawing/2014/main" id="{9682699A-0788-429A-9B83-CB60BA72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434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Use variance notes and actuals to drive action.</a:t>
            </a:r>
          </a:p>
        </p:txBody>
      </p:sp>
      <p:sp>
        <p:nvSpPr>
          <p:cNvPr id="14" name="item-rule">
            <a:extLst xmlns:a="http://schemas.openxmlformats.org/drawingml/2006/main">
              <a:ext uri="{FF2B5EF4-FFF2-40B4-BE49-F238E27FC236}">
                <a16:creationId xmlns:a16="http://schemas.microsoft.com/office/drawing/2014/main" id="{FDC45C5D-DF01-44E2-BB3B-B7DB5F07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434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tem-title">
            <a:extLst xmlns:a="http://schemas.openxmlformats.org/drawingml/2006/main">
              <a:ext uri="{FF2B5EF4-FFF2-40B4-BE49-F238E27FC236}">
                <a16:creationId xmlns:a16="http://schemas.microsoft.com/office/drawing/2014/main" id="{434560EF-24F5-4CC6-A2DF-F5C74B6C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815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Management cadence</a:t>
            </a:r>
          </a:p>
        </p:txBody>
      </p:sp>
      <p:sp>
        <p:nvSpPr>
          <p:cNvPr id="16" name="item-body">
            <a:extLst xmlns:a="http://schemas.openxmlformats.org/drawingml/2006/main">
              <a:ext uri="{FF2B5EF4-FFF2-40B4-BE49-F238E27FC236}">
                <a16:creationId xmlns:a16="http://schemas.microsoft.com/office/drawing/2014/main" id="{DAFEA0CF-1D9D-425E-97BE-339096D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3721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Support daily, weekly, and period-end review.</a:t>
            </a:r>
          </a:p>
        </p:txBody>
      </p:sp>
      <p:sp>
        <p:nvSpPr>
          <p:cNvPr id="17" name="item-rule">
            <a:extLst xmlns:a="http://schemas.openxmlformats.org/drawingml/2006/main">
              <a:ext uri="{FF2B5EF4-FFF2-40B4-BE49-F238E27FC236}">
                <a16:creationId xmlns:a16="http://schemas.microsoft.com/office/drawing/2014/main" id="{07C31447-0904-4727-944D-CFADCB2F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7721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486034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9AEF905-B80C-4602-852A-02CFC687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CONNECTED MODULES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C6014F-6910-4FDE-8B18-07D49D80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Inventory and procurement support Catering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28D24CA-E129-47D8-BFC4-9D002C77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Catering execution depends on products, stock, suppliers, and replenishment discipline.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FC8EECF2-2C4C-4218-B8CB-AFF631D3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Connected modules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DA59F3A-1D75-4753-B0CB-BFC47552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17</a:t>
            </a:r>
          </a:p>
        </p:txBody>
      </p:sp>
      <p:sp>
        <p:nvSpPr>
          <p:cNvPr id="6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DA9F1AF5-4BB3-4A5F-B910-6A7E334A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Catalog</a:t>
            </a:r>
          </a:p>
        </p:txBody>
      </p:sp>
      <p:sp>
        <p:nvSpPr>
          <p:cNvPr id="7" name="module-rule">
            <a:extLst xmlns:a="http://schemas.openxmlformats.org/drawingml/2006/main">
              <a:ext uri="{FF2B5EF4-FFF2-40B4-BE49-F238E27FC236}">
                <a16:creationId xmlns:a16="http://schemas.microsoft.com/office/drawing/2014/main" id="{193ECD08-2205-4500-B537-172D3BA9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dule-body">
            <a:extLst xmlns:a="http://schemas.openxmlformats.org/drawingml/2006/main">
              <a:ext uri="{FF2B5EF4-FFF2-40B4-BE49-F238E27FC236}">
                <a16:creationId xmlns:a16="http://schemas.microsoft.com/office/drawing/2014/main" id="{4C5301BB-0842-4E09-A0A3-4F0F41E0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316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Products, categories, units, packages, pricing.</a:t>
            </a:r>
          </a:p>
        </p:txBody>
      </p:sp>
      <p:sp>
        <p:nvSpPr>
          <p:cNvPr id="9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04E6DB74-149E-457E-8E04-5631D50C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051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Inventory</a:t>
            </a:r>
          </a:p>
        </p:txBody>
      </p:sp>
      <p:sp>
        <p:nvSpPr>
          <p:cNvPr id="10" name="module-rule">
            <a:extLst xmlns:a="http://schemas.openxmlformats.org/drawingml/2006/main">
              <a:ext uri="{FF2B5EF4-FFF2-40B4-BE49-F238E27FC236}">
                <a16:creationId xmlns:a16="http://schemas.microsoft.com/office/drawing/2014/main" id="{F60301BF-85EB-4A5C-A1B1-7EA02F35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623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odule-body">
            <a:extLst xmlns:a="http://schemas.openxmlformats.org/drawingml/2006/main">
              <a:ext uri="{FF2B5EF4-FFF2-40B4-BE49-F238E27FC236}">
                <a16:creationId xmlns:a16="http://schemas.microsoft.com/office/drawing/2014/main" id="{418FA666-DBCF-4B33-B103-CEB7BB97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71850"/>
            <a:ext cx="316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Warehouses, batches, stock in/out, reservations, adjustments.</a:t>
            </a:r>
          </a:p>
        </p:txBody>
      </p:sp>
      <p:sp>
        <p:nvSpPr>
          <p:cNvPr id="12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9AC85410-D41F-4BE2-A0E3-921C87B5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051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Procurement</a:t>
            </a:r>
          </a:p>
        </p:txBody>
      </p:sp>
      <p:sp>
        <p:nvSpPr>
          <p:cNvPr id="13" name="module-rule">
            <a:extLst xmlns:a="http://schemas.openxmlformats.org/drawingml/2006/main">
              <a:ext uri="{FF2B5EF4-FFF2-40B4-BE49-F238E27FC236}">
                <a16:creationId xmlns:a16="http://schemas.microsoft.com/office/drawing/2014/main" id="{CA30DFF6-F5D2-41EF-AF5C-F6AA652A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odule-body">
            <a:extLst xmlns:a="http://schemas.openxmlformats.org/drawingml/2006/main">
              <a:ext uri="{FF2B5EF4-FFF2-40B4-BE49-F238E27FC236}">
                <a16:creationId xmlns:a16="http://schemas.microsoft.com/office/drawing/2014/main" id="{5121560A-F08C-459A-8FEB-7610DC7D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71850"/>
            <a:ext cx="316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Purchase flow, supplier commitments, goods receipt.</a:t>
            </a:r>
          </a:p>
        </p:txBody>
      </p:sp>
      <p:sp>
        <p:nvSpPr>
          <p:cNvPr id="15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CBD49632-6D01-4DA4-8370-AEA07724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Suppliers</a:t>
            </a:r>
          </a:p>
        </p:txBody>
      </p:sp>
      <p:sp>
        <p:nvSpPr>
          <p:cNvPr id="16" name="module-rule">
            <a:extLst xmlns:a="http://schemas.openxmlformats.org/drawingml/2006/main">
              <a:ext uri="{FF2B5EF4-FFF2-40B4-BE49-F238E27FC236}">
                <a16:creationId xmlns:a16="http://schemas.microsoft.com/office/drawing/2014/main" id="{09BF0421-0B2A-45D4-9238-4A36CC9F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odule-body">
            <a:extLst xmlns:a="http://schemas.openxmlformats.org/drawingml/2006/main">
              <a:ext uri="{FF2B5EF4-FFF2-40B4-BE49-F238E27FC236}">
                <a16:creationId xmlns:a16="http://schemas.microsoft.com/office/drawing/2014/main" id="{66F56511-5CCD-437E-A1E2-3443402E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316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Supplier records, groups, and purchasing context.</a:t>
            </a:r>
          </a:p>
        </p:txBody>
      </p:sp>
      <p:sp>
        <p:nvSpPr>
          <p:cNvPr id="18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CBE47EC5-E73F-440A-A498-A94118A7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305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Controls</a:t>
            </a:r>
          </a:p>
        </p:txBody>
      </p:sp>
      <p:sp>
        <p:nvSpPr>
          <p:cNvPr id="19" name="module-rule">
            <a:extLst xmlns:a="http://schemas.openxmlformats.org/drawingml/2006/main">
              <a:ext uri="{FF2B5EF4-FFF2-40B4-BE49-F238E27FC236}">
                <a16:creationId xmlns:a16="http://schemas.microsoft.com/office/drawing/2014/main" id="{E7F2A272-1322-4AC3-8F3F-44D423DD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7625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odule-body">
            <a:extLst xmlns:a="http://schemas.openxmlformats.org/drawingml/2006/main">
              <a:ext uri="{FF2B5EF4-FFF2-40B4-BE49-F238E27FC236}">
                <a16:creationId xmlns:a16="http://schemas.microsoft.com/office/drawing/2014/main" id="{28D607DF-5E75-4D36-9C01-E722515E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972050"/>
            <a:ext cx="316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Operational quantities become connected to stock movement.</a:t>
            </a:r>
          </a:p>
        </p:txBody>
      </p:sp>
      <p:sp>
        <p:nvSpPr>
          <p:cNvPr id="21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43981D52-F36C-4BD9-908C-9C6F0289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05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Outcome</a:t>
            </a:r>
          </a:p>
        </p:txBody>
      </p:sp>
      <p:sp>
        <p:nvSpPr>
          <p:cNvPr id="22" name="module-rule">
            <a:extLst xmlns:a="http://schemas.openxmlformats.org/drawingml/2006/main">
              <a:ext uri="{FF2B5EF4-FFF2-40B4-BE49-F238E27FC236}">
                <a16:creationId xmlns:a16="http://schemas.microsoft.com/office/drawing/2014/main" id="{BB537550-421E-49DA-9DB4-538D61E9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odule-body">
            <a:extLst xmlns:a="http://schemas.openxmlformats.org/drawingml/2006/main">
              <a:ext uri="{FF2B5EF4-FFF2-40B4-BE49-F238E27FC236}">
                <a16:creationId xmlns:a16="http://schemas.microsoft.com/office/drawing/2014/main" id="{484A1526-361B-42C2-A7C6-AEE3ED6B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72050"/>
            <a:ext cx="316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Less manual coordination between Catering, warehouse, and purchasing.</a:t>
            </a:r>
          </a:p>
        </p:txBody>
      </p:sp>
    </p:spTree>
    <p:extLst>
      <p:ext uri="{BB962C8B-B14F-4D97-AF65-F5344CB8AC3E}">
        <p14:creationId xmlns:p14="http://schemas.microsoft.com/office/powerpoint/2010/main" val="2468385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07AFFCF-48C6-478B-8464-6444C483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CONNECTED MODULES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C2975E-D2EE-43EA-A0D0-AC9A10F5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Finance, people, and assets complete the picture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45D6AB-9470-4B80-BE1E-878043AA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The ERP connects Catering operations to the back-office controls management cares about.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1D8AC0E9-F693-423A-8BE5-78AAE32A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Connected modules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E1242FA-B747-493F-8FED-7D88BCEC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18</a:t>
            </a:r>
          </a:p>
        </p:txBody>
      </p:sp>
      <p:sp>
        <p:nvSpPr>
          <p:cNvPr id="6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202BCFC0-79E9-415E-9889-53F1EF68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Accounting</a:t>
            </a:r>
          </a:p>
        </p:txBody>
      </p:sp>
      <p:sp>
        <p:nvSpPr>
          <p:cNvPr id="7" name="module-rule">
            <a:extLst xmlns:a="http://schemas.openxmlformats.org/drawingml/2006/main">
              <a:ext uri="{FF2B5EF4-FFF2-40B4-BE49-F238E27FC236}">
                <a16:creationId xmlns:a16="http://schemas.microsoft.com/office/drawing/2014/main" id="{9DB5A929-1EA2-435D-A763-65C73521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dule-body">
            <a:extLst xmlns:a="http://schemas.openxmlformats.org/drawingml/2006/main">
              <a:ext uri="{FF2B5EF4-FFF2-40B4-BE49-F238E27FC236}">
                <a16:creationId xmlns:a16="http://schemas.microsoft.com/office/drawing/2014/main" id="{59C8E160-9CC1-4FA4-A0EA-69723C12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316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Invoices, journals, receipts, payments, tax and ZATCA readiness.</a:t>
            </a:r>
          </a:p>
        </p:txBody>
      </p:sp>
      <p:sp>
        <p:nvSpPr>
          <p:cNvPr id="9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4CEE4C7B-4650-4624-B077-B86EA23C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051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HR and attendance</a:t>
            </a:r>
          </a:p>
        </p:txBody>
      </p:sp>
      <p:sp>
        <p:nvSpPr>
          <p:cNvPr id="10" name="module-rule">
            <a:extLst xmlns:a="http://schemas.openxmlformats.org/drawingml/2006/main">
              <a:ext uri="{FF2B5EF4-FFF2-40B4-BE49-F238E27FC236}">
                <a16:creationId xmlns:a16="http://schemas.microsoft.com/office/drawing/2014/main" id="{57A0CA77-BFC7-4306-A802-55E8C58D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623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odule-body">
            <a:extLst xmlns:a="http://schemas.openxmlformats.org/drawingml/2006/main">
              <a:ext uri="{FF2B5EF4-FFF2-40B4-BE49-F238E27FC236}">
                <a16:creationId xmlns:a16="http://schemas.microsoft.com/office/drawing/2014/main" id="{62A70719-5E1D-42BE-9F67-FAC8E592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71850"/>
            <a:ext cx="316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Employees, shifts, attendance, leave, payroll.</a:t>
            </a:r>
          </a:p>
        </p:txBody>
      </p:sp>
      <p:sp>
        <p:nvSpPr>
          <p:cNvPr id="12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17184E35-9895-447F-A100-95AA5A00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051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Fleet</a:t>
            </a:r>
          </a:p>
        </p:txBody>
      </p:sp>
      <p:sp>
        <p:nvSpPr>
          <p:cNvPr id="13" name="module-rule">
            <a:extLst xmlns:a="http://schemas.openxmlformats.org/drawingml/2006/main">
              <a:ext uri="{FF2B5EF4-FFF2-40B4-BE49-F238E27FC236}">
                <a16:creationId xmlns:a16="http://schemas.microsoft.com/office/drawing/2014/main" id="{53EB0868-0CC9-4FBC-8CA0-EE94B5AE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odule-body">
            <a:extLst xmlns:a="http://schemas.openxmlformats.org/drawingml/2006/main">
              <a:ext uri="{FF2B5EF4-FFF2-40B4-BE49-F238E27FC236}">
                <a16:creationId xmlns:a16="http://schemas.microsoft.com/office/drawing/2014/main" id="{A6D5902D-D45F-482C-9057-0CC859AB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71850"/>
            <a:ext cx="316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Vehicles, assignments, expenses, documents, service rules.</a:t>
            </a:r>
          </a:p>
        </p:txBody>
      </p:sp>
      <p:sp>
        <p:nvSpPr>
          <p:cNvPr id="15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374B1159-0496-4BF7-ABA9-B93307B3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Maintenance</a:t>
            </a:r>
          </a:p>
        </p:txBody>
      </p:sp>
      <p:sp>
        <p:nvSpPr>
          <p:cNvPr id="16" name="module-rule">
            <a:extLst xmlns:a="http://schemas.openxmlformats.org/drawingml/2006/main">
              <a:ext uri="{FF2B5EF4-FFF2-40B4-BE49-F238E27FC236}">
                <a16:creationId xmlns:a16="http://schemas.microsoft.com/office/drawing/2014/main" id="{6B07E2D0-B9EA-40E3-BE93-D82F5CBF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odule-body">
            <a:extLst xmlns:a="http://schemas.openxmlformats.org/drawingml/2006/main">
              <a:ext uri="{FF2B5EF4-FFF2-40B4-BE49-F238E27FC236}">
                <a16:creationId xmlns:a16="http://schemas.microsoft.com/office/drawing/2014/main" id="{CC64A0F6-807C-45D9-AE91-F7CB5AB1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316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Assets, requests, work orders, costs, reports.</a:t>
            </a:r>
          </a:p>
        </p:txBody>
      </p:sp>
      <p:sp>
        <p:nvSpPr>
          <p:cNvPr id="18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3DF1BC21-1E9D-4F3A-874A-A7943A0D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305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Documents</a:t>
            </a:r>
          </a:p>
        </p:txBody>
      </p:sp>
      <p:sp>
        <p:nvSpPr>
          <p:cNvPr id="19" name="module-rule">
            <a:extLst xmlns:a="http://schemas.openxmlformats.org/drawingml/2006/main">
              <a:ext uri="{FF2B5EF4-FFF2-40B4-BE49-F238E27FC236}">
                <a16:creationId xmlns:a16="http://schemas.microsoft.com/office/drawing/2014/main" id="{C50286CF-9A7D-4BAD-BEA4-6133C883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7625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odule-body">
            <a:extLst xmlns:a="http://schemas.openxmlformats.org/drawingml/2006/main">
              <a:ext uri="{FF2B5EF4-FFF2-40B4-BE49-F238E27FC236}">
                <a16:creationId xmlns:a16="http://schemas.microsoft.com/office/drawing/2014/main" id="{638CD409-BA10-48B0-91B3-DC1A5296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972050"/>
            <a:ext cx="316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Central files linked to operational and source records.</a:t>
            </a:r>
          </a:p>
        </p:txBody>
      </p:sp>
      <p:sp>
        <p:nvSpPr>
          <p:cNvPr id="21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BF3EF331-01E7-417C-BD52-A6B5C3B6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05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Tasks</a:t>
            </a:r>
          </a:p>
        </p:txBody>
      </p:sp>
      <p:sp>
        <p:nvSpPr>
          <p:cNvPr id="22" name="module-rule">
            <a:extLst xmlns:a="http://schemas.openxmlformats.org/drawingml/2006/main">
              <a:ext uri="{FF2B5EF4-FFF2-40B4-BE49-F238E27FC236}">
                <a16:creationId xmlns:a16="http://schemas.microsoft.com/office/drawing/2014/main" id="{E4A280AD-697D-475E-A205-D88C504F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odule-body">
            <a:extLst xmlns:a="http://schemas.openxmlformats.org/drawingml/2006/main">
              <a:ext uri="{FF2B5EF4-FFF2-40B4-BE49-F238E27FC236}">
                <a16:creationId xmlns:a16="http://schemas.microsoft.com/office/drawing/2014/main" id="{1139051C-E06A-4107-B5C3-9B6C60D8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72050"/>
            <a:ext cx="316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Follow-up work, notifications, boards, and reports.</a:t>
            </a:r>
          </a:p>
        </p:txBody>
      </p:sp>
    </p:spTree>
    <p:extLst>
      <p:ext uri="{BB962C8B-B14F-4D97-AF65-F5344CB8AC3E}">
        <p14:creationId xmlns:p14="http://schemas.microsoft.com/office/powerpoint/2010/main" val="19140306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A3E82CF-1A47-4487-81D5-FEFECB28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EXECUTIVE VALUE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7FA506-57B8-4FAB-920A-A2267B3C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What higher management should take away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10D2EEB-5CB1-4F56-9E18-6CE369FD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The ERP value is strongest when Catering operations and shared controls work together.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96550205-643A-4625-8F8B-3751C9F1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Executive value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FB19A31-76CB-4CAD-8D34-C9459E8B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19</a:t>
            </a:r>
          </a:p>
        </p:txBody>
      </p:sp>
      <p:sp>
        <p:nvSpPr>
          <p:cNvPr id="6" name="column-panel">
            <a:extLst xmlns:a="http://schemas.openxmlformats.org/drawingml/2006/main">
              <a:ext uri="{FF2B5EF4-FFF2-40B4-BE49-F238E27FC236}">
                <a16:creationId xmlns:a16="http://schemas.microsoft.com/office/drawing/2014/main" id="{20FE99BC-C981-4E6E-87BE-6C895747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35623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7" name="column-kicker">
            <a:extLst xmlns:a="http://schemas.openxmlformats.org/drawingml/2006/main">
              <a:ext uri="{FF2B5EF4-FFF2-40B4-BE49-F238E27FC236}">
                <a16:creationId xmlns:a16="http://schemas.microsoft.com/office/drawing/2014/main" id="{7612B914-285C-4DAF-BB77-24258E83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CORE</a:t>
            </a:r>
          </a:p>
        </p:txBody>
      </p:sp>
      <p:sp>
        <p:nvSpPr>
          <p:cNvPr id="8" name="column-title">
            <a:extLst xmlns:a="http://schemas.openxmlformats.org/drawingml/2006/main">
              <a:ext uri="{FF2B5EF4-FFF2-40B4-BE49-F238E27FC236}">
                <a16:creationId xmlns:a16="http://schemas.microsoft.com/office/drawing/2014/main" id="{644B94D4-D2CF-4557-BFB6-1F808160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Catering control</a:t>
            </a:r>
          </a:p>
        </p:txBody>
      </p:sp>
      <p:sp>
        <p:nvSpPr>
          <p:cNvPr id="9" name="column-body">
            <a:extLst xmlns:a="http://schemas.openxmlformats.org/drawingml/2006/main">
              <a:ext uri="{FF2B5EF4-FFF2-40B4-BE49-F238E27FC236}">
                <a16:creationId xmlns:a16="http://schemas.microsoft.com/office/drawing/2014/main" id="{607B5E85-D7BA-4498-9AAB-F29DBE1F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914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Daily plans, quantities, locations, deliveries, assignments, and variances become visible.</a:t>
            </a:r>
          </a:p>
        </p:txBody>
      </p:sp>
      <p:sp>
        <p:nvSpPr>
          <p:cNvPr id="10" name="column-panel">
            <a:extLst xmlns:a="http://schemas.openxmlformats.org/drawingml/2006/main">
              <a:ext uri="{FF2B5EF4-FFF2-40B4-BE49-F238E27FC236}">
                <a16:creationId xmlns:a16="http://schemas.microsoft.com/office/drawing/2014/main" id="{414AFDB3-E101-47ED-BCC9-37CBED93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86050"/>
            <a:ext cx="35623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lumn-kicker">
            <a:extLst xmlns:a="http://schemas.openxmlformats.org/drawingml/2006/main">
              <a:ext uri="{FF2B5EF4-FFF2-40B4-BE49-F238E27FC236}">
                <a16:creationId xmlns:a16="http://schemas.microsoft.com/office/drawing/2014/main" id="{0BF241C5-0673-4A14-8038-4DFEE399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95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</a:t>
            </a:r>
          </a:p>
        </p:txBody>
      </p:sp>
      <p:sp>
        <p:nvSpPr>
          <p:cNvPr id="12" name="column-title">
            <a:extLst xmlns:a="http://schemas.openxmlformats.org/drawingml/2006/main">
              <a:ext uri="{FF2B5EF4-FFF2-40B4-BE49-F238E27FC236}">
                <a16:creationId xmlns:a16="http://schemas.microsoft.com/office/drawing/2014/main" id="{702FB838-9ECD-4CF2-932D-2502933D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575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Shared services</a:t>
            </a:r>
          </a:p>
        </p:txBody>
      </p:sp>
      <p:sp>
        <p:nvSpPr>
          <p:cNvPr id="13" name="column-body">
            <a:extLst xmlns:a="http://schemas.openxmlformats.org/drawingml/2006/main">
              <a:ext uri="{FF2B5EF4-FFF2-40B4-BE49-F238E27FC236}">
                <a16:creationId xmlns:a16="http://schemas.microsoft.com/office/drawing/2014/main" id="{31C50B20-075A-4000-A3A0-AF928A94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019550"/>
            <a:ext cx="2914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Finance, HR, procurement, stock, fleet, documents, and tasks support the same operating story.</a:t>
            </a:r>
          </a:p>
        </p:txBody>
      </p:sp>
      <p:sp>
        <p:nvSpPr>
          <p:cNvPr id="14" name="column-panel">
            <a:extLst xmlns:a="http://schemas.openxmlformats.org/drawingml/2006/main">
              <a:ext uri="{FF2B5EF4-FFF2-40B4-BE49-F238E27FC236}">
                <a16:creationId xmlns:a16="http://schemas.microsoft.com/office/drawing/2014/main" id="{010070BE-A2F1-4810-B898-2DCC1138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35623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lumn-kicker">
            <a:extLst xmlns:a="http://schemas.openxmlformats.org/drawingml/2006/main">
              <a:ext uri="{FF2B5EF4-FFF2-40B4-BE49-F238E27FC236}">
                <a16:creationId xmlns:a16="http://schemas.microsoft.com/office/drawing/2014/main" id="{F834CE7F-6E04-49A7-88ED-E97D9611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GOVERNANCE</a:t>
            </a:r>
          </a:p>
        </p:txBody>
      </p:sp>
      <p:sp>
        <p:nvSpPr>
          <p:cNvPr id="16" name="column-title">
            <a:extLst xmlns:a="http://schemas.openxmlformats.org/drawingml/2006/main">
              <a:ext uri="{FF2B5EF4-FFF2-40B4-BE49-F238E27FC236}">
                <a16:creationId xmlns:a16="http://schemas.microsoft.com/office/drawing/2014/main" id="{25370608-2AAA-48EF-87EC-B4693E16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575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Management confidence</a:t>
            </a:r>
          </a:p>
        </p:txBody>
      </p:sp>
      <p:sp>
        <p:nvSpPr>
          <p:cNvPr id="17" name="column-body">
            <a:extLst xmlns:a="http://schemas.openxmlformats.org/drawingml/2006/main">
              <a:ext uri="{FF2B5EF4-FFF2-40B4-BE49-F238E27FC236}">
                <a16:creationId xmlns:a16="http://schemas.microsoft.com/office/drawing/2014/main" id="{57290178-B92E-49B0-BB0D-E6206952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19550"/>
            <a:ext cx="2914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Roles, permissions, reports, and structured workflows reduce dependency on informal follow-up.</a:t>
            </a:r>
          </a:p>
        </p:txBody>
      </p:sp>
    </p:spTree>
    <p:extLst>
      <p:ext uri="{BB962C8B-B14F-4D97-AF65-F5344CB8AC3E}">
        <p14:creationId xmlns:p14="http://schemas.microsoft.com/office/powerpoint/2010/main" val="15626071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7970668-AA1A-4074-81E7-F0789667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EXECUTIVE CLOSE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3A9D4C8-F929-478F-A2D9-93376B32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Catering control first. Wider business visibility second.</a:t>
            </a:r>
          </a:p>
        </p:txBody>
      </p:sp>
      <p:sp>
        <p:nvSpPr>
          <p:cNvPr id="3" name="next-num">
            <a:extLst xmlns:a="http://schemas.openxmlformats.org/drawingml/2006/main">
              <a:ext uri="{FF2B5EF4-FFF2-40B4-BE49-F238E27FC236}">
                <a16:creationId xmlns:a16="http://schemas.microsoft.com/office/drawing/2014/main" id="{5BE5E6D2-6A86-46FF-98FB-D253E0DB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4" name="next-title">
            <a:extLst xmlns:a="http://schemas.openxmlformats.org/drawingml/2006/main">
              <a:ext uri="{FF2B5EF4-FFF2-40B4-BE49-F238E27FC236}">
                <a16:creationId xmlns:a16="http://schemas.microsoft.com/office/drawing/2014/main" id="{6A134F3A-CD1F-453F-8F51-EDA80EED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Confirm the pilot scope</a:t>
            </a:r>
          </a:p>
        </p:txBody>
      </p:sp>
      <p:sp>
        <p:nvSpPr>
          <p:cNvPr id="5" name="next-body">
            <a:extLst xmlns:a="http://schemas.openxmlformats.org/drawingml/2006/main">
              <a:ext uri="{FF2B5EF4-FFF2-40B4-BE49-F238E27FC236}">
                <a16:creationId xmlns:a16="http://schemas.microsoft.com/office/drawing/2014/main" id="{A94843DF-202C-4148-8C26-31B50832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Start with the Catering daily operating cycle and the supporting modules it needs.</a:t>
            </a:r>
          </a:p>
        </p:txBody>
      </p:sp>
      <p:sp>
        <p:nvSpPr>
          <p:cNvPr id="6" name="next-num">
            <a:extLst xmlns:a="http://schemas.openxmlformats.org/drawingml/2006/main">
              <a:ext uri="{FF2B5EF4-FFF2-40B4-BE49-F238E27FC236}">
                <a16:creationId xmlns:a16="http://schemas.microsoft.com/office/drawing/2014/main" id="{B71C3F89-3131-4AF2-8E43-1FF54908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7" name="next-title">
            <a:extLst xmlns:a="http://schemas.openxmlformats.org/drawingml/2006/main">
              <a:ext uri="{FF2B5EF4-FFF2-40B4-BE49-F238E27FC236}">
                <a16:creationId xmlns:a16="http://schemas.microsoft.com/office/drawing/2014/main" id="{92974D64-A1EA-45E8-A884-D44A20E2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Prepare representative demo data</a:t>
            </a:r>
          </a:p>
        </p:txBody>
      </p:sp>
      <p:sp>
        <p:nvSpPr>
          <p:cNvPr id="8" name="next-body">
            <a:extLst xmlns:a="http://schemas.openxmlformats.org/drawingml/2006/main">
              <a:ext uri="{FF2B5EF4-FFF2-40B4-BE49-F238E27FC236}">
                <a16:creationId xmlns:a16="http://schemas.microsoft.com/office/drawing/2014/main" id="{6E0D6C23-0E0F-4E45-A797-23305B89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Contracts, meals, locations, schedules, deliveries, assignments, variances.</a:t>
            </a:r>
          </a:p>
        </p:txBody>
      </p:sp>
      <p:sp>
        <p:nvSpPr>
          <p:cNvPr id="9" name="next-num">
            <a:extLst xmlns:a="http://schemas.openxmlformats.org/drawingml/2006/main">
              <a:ext uri="{FF2B5EF4-FFF2-40B4-BE49-F238E27FC236}">
                <a16:creationId xmlns:a16="http://schemas.microsoft.com/office/drawing/2014/main" id="{F630AD43-B6BB-4CAF-823A-A01F0E3C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0" name="next-title">
            <a:extLst xmlns:a="http://schemas.openxmlformats.org/drawingml/2006/main">
              <a:ext uri="{FF2B5EF4-FFF2-40B4-BE49-F238E27FC236}">
                <a16:creationId xmlns:a16="http://schemas.microsoft.com/office/drawing/2014/main" id="{A47252A9-B65A-40C5-A02F-29007E91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Validate success criteria</a:t>
            </a:r>
          </a:p>
        </p:txBody>
      </p:sp>
      <p:sp>
        <p:nvSpPr>
          <p:cNvPr id="11" name="next-body">
            <a:extLst xmlns:a="http://schemas.openxmlformats.org/drawingml/2006/main">
              <a:ext uri="{FF2B5EF4-FFF2-40B4-BE49-F238E27FC236}">
                <a16:creationId xmlns:a16="http://schemas.microsoft.com/office/drawing/2014/main" id="{9B2B040A-E9DC-4ABD-9ECD-F1369AFE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Agree the reports, controls, and workflows management wants to see working.</a:t>
            </a:r>
          </a:p>
        </p:txBody>
      </p:sp>
      <p:sp>
        <p:nvSpPr>
          <p:cNvPr id="12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5C51EF28-95D9-4834-87AC-BFDB717B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AlAfkar ERP</a:t>
            </a:r>
          </a:p>
        </p:txBody>
      </p:sp>
      <p:sp>
        <p:nvSpPr>
          <p:cNvPr id="1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26D4AA0-D496-4178-8A4C-42561C25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59253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2026-06-24T09:43:16.0010000Z</dcterms:created>
  <dcterms:modified xsi:type="dcterms:W3CDTF">2026-06-24T09:43:16.0010000Z</dcterms:modified>
</coreProperties>
</file>