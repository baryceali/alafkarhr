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cca91d1bd4fb0" /><Relationship Type="http://schemas.openxmlformats.org/officeDocument/2006/relationships/extended-properties" Target="/docProps/app.xml" Id="Rac3134803fab4d06" /><Relationship Type="http://schemas.openxmlformats.org/officeDocument/2006/relationships/officeDocument" Target="/ppt/presentation.xml" Id="R96b7b6f707af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c425bde0a4999"/>
  </p:sldMasterIdLst>
  <p:notesMasterIdLst>
    <p:notesMasterId xmlns:r="http://schemas.openxmlformats.org/officeDocument/2006/relationships" r:id="Raab3c3ec6f704ba1"/>
  </p:notesMasterIdLst>
  <p:sldIdLst>
    <p:sldId xmlns:r="http://schemas.openxmlformats.org/officeDocument/2006/relationships" id="256" r:id="R02429807d10544fd"/>
    <p:sldId xmlns:r="http://schemas.openxmlformats.org/officeDocument/2006/relationships" id="257" r:id="R4bf43cabe6ff4d78"/>
    <p:sldId xmlns:r="http://schemas.openxmlformats.org/officeDocument/2006/relationships" id="258" r:id="R94bd062ceab441bc"/>
    <p:sldId xmlns:r="http://schemas.openxmlformats.org/officeDocument/2006/relationships" id="259" r:id="R8064ec9de51d4ac9"/>
    <p:sldId xmlns:r="http://schemas.openxmlformats.org/officeDocument/2006/relationships" id="260" r:id="R0fbefd9789074127"/>
    <p:sldId xmlns:r="http://schemas.openxmlformats.org/officeDocument/2006/relationships" id="261" r:id="R4c94e7824dcc494a"/>
    <p:sldId xmlns:r="http://schemas.openxmlformats.org/officeDocument/2006/relationships" id="262" r:id="Rc8b5362c970c475e"/>
    <p:sldId xmlns:r="http://schemas.openxmlformats.org/officeDocument/2006/relationships" id="263" r:id="Rd8f541bac0ce49d1"/>
    <p:sldId xmlns:r="http://schemas.openxmlformats.org/officeDocument/2006/relationships" id="264" r:id="R0193c791a8114980"/>
    <p:sldId xmlns:r="http://schemas.openxmlformats.org/officeDocument/2006/relationships" id="265" r:id="R4c0e150d80d74d7c"/>
    <p:sldId xmlns:r="http://schemas.openxmlformats.org/officeDocument/2006/relationships" id="266" r:id="R6a7d0d6a5b7f448d"/>
    <p:sldId xmlns:r="http://schemas.openxmlformats.org/officeDocument/2006/relationships" id="267" r:id="Rf3887c03adf841ba"/>
    <p:sldId xmlns:r="http://schemas.openxmlformats.org/officeDocument/2006/relationships" id="268" r:id="Ra2e580194f66426c"/>
    <p:sldId xmlns:r="http://schemas.openxmlformats.org/officeDocument/2006/relationships" id="269" r:id="Rca8e7d1c0d644030"/>
    <p:sldId xmlns:r="http://schemas.openxmlformats.org/officeDocument/2006/relationships" id="270" r:id="R2e7bdda1d15745c6"/>
    <p:sldId xmlns:r="http://schemas.openxmlformats.org/officeDocument/2006/relationships" id="271" r:id="Raec91dc91c514741"/>
    <p:sldId xmlns:r="http://schemas.openxmlformats.org/officeDocument/2006/relationships" id="272" r:id="Re2d8008ff5514df0"/>
    <p:sldId xmlns:r="http://schemas.openxmlformats.org/officeDocument/2006/relationships" id="273" r:id="R6a666528fc4b4c4a"/>
    <p:sldId xmlns:r="http://schemas.openxmlformats.org/officeDocument/2006/relationships" id="274" r:id="R45156604fb4d44a9"/>
    <p:sldId xmlns:r="http://schemas.openxmlformats.org/officeDocument/2006/relationships" id="275" r:id="R30fc39c743294353"/>
    <p:sldId xmlns:r="http://schemas.openxmlformats.org/officeDocument/2006/relationships" id="276" r:id="Rab3a7ce0697d4e5d"/>
    <p:sldId xmlns:r="http://schemas.openxmlformats.org/officeDocument/2006/relationships" id="277" r:id="R60185a87b9384ba4"/>
    <p:sldId xmlns:r="http://schemas.openxmlformats.org/officeDocument/2006/relationships" id="278" r:id="Rdd892603012c43b3"/>
    <p:sldId xmlns:r="http://schemas.openxmlformats.org/officeDocument/2006/relationships" id="279" r:id="R4da9d118e79c489d"/>
    <p:sldId xmlns:r="http://schemas.openxmlformats.org/officeDocument/2006/relationships" id="280" r:id="R34bafbf9bb014559"/>
    <p:sldId xmlns:r="http://schemas.openxmlformats.org/officeDocument/2006/relationships" id="281" r:id="R2720e1471d9c46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53bd3d8a74c37" /><Relationship Type="http://schemas.openxmlformats.org/officeDocument/2006/relationships/slideMaster" Target="/ppt/slideMasters/slideMaster1.xml" Id="R6b6c425bde0a4999" /><Relationship Type="http://schemas.openxmlformats.org/officeDocument/2006/relationships/notesMaster" Target="/ppt/notesMasters/notesMaster1.xml" Id="Raab3c3ec6f704ba1" /><Relationship Type="http://schemas.openxmlformats.org/officeDocument/2006/relationships/presProps" Target="/ppt/presProps.xml" Id="Racce25e305f04f85" /><Relationship Type="http://schemas.openxmlformats.org/officeDocument/2006/relationships/tableStyles" Target="/ppt/tableStyles.xml" Id="Rf83f25beb5c64627" /><Relationship Type="http://schemas.openxmlformats.org/officeDocument/2006/relationships/slide" Target="/ppt/slides/slide1.xml" Id="R02429807d10544fd" /><Relationship Type="http://schemas.openxmlformats.org/officeDocument/2006/relationships/slide" Target="/ppt/slides/slide2.xml" Id="R4bf43cabe6ff4d78" /><Relationship Type="http://schemas.openxmlformats.org/officeDocument/2006/relationships/slide" Target="/ppt/slides/slide3.xml" Id="R94bd062ceab441bc" /><Relationship Type="http://schemas.openxmlformats.org/officeDocument/2006/relationships/slide" Target="/ppt/slides/slide4.xml" Id="R8064ec9de51d4ac9" /><Relationship Type="http://schemas.openxmlformats.org/officeDocument/2006/relationships/slide" Target="/ppt/slides/slide5.xml" Id="R0fbefd9789074127" /><Relationship Type="http://schemas.openxmlformats.org/officeDocument/2006/relationships/slide" Target="/ppt/slides/slide6.xml" Id="R4c94e7824dcc494a" /><Relationship Type="http://schemas.openxmlformats.org/officeDocument/2006/relationships/slide" Target="/ppt/slides/slide7.xml" Id="Rc8b5362c970c475e" /><Relationship Type="http://schemas.openxmlformats.org/officeDocument/2006/relationships/slide" Target="/ppt/slides/slide8.xml" Id="Rd8f541bac0ce49d1" /><Relationship Type="http://schemas.openxmlformats.org/officeDocument/2006/relationships/slide" Target="/ppt/slides/slide9.xml" Id="R0193c791a8114980" /><Relationship Type="http://schemas.openxmlformats.org/officeDocument/2006/relationships/slide" Target="/ppt/slides/slide10.xml" Id="R4c0e150d80d74d7c" /><Relationship Type="http://schemas.openxmlformats.org/officeDocument/2006/relationships/slide" Target="/ppt/slides/slide11.xml" Id="R6a7d0d6a5b7f448d" /><Relationship Type="http://schemas.openxmlformats.org/officeDocument/2006/relationships/slide" Target="/ppt/slides/slide12.xml" Id="Rf3887c03adf841ba" /><Relationship Type="http://schemas.openxmlformats.org/officeDocument/2006/relationships/slide" Target="/ppt/slides/slide13.xml" Id="Ra2e580194f66426c" /><Relationship Type="http://schemas.openxmlformats.org/officeDocument/2006/relationships/slide" Target="/ppt/slides/slide14.xml" Id="Rca8e7d1c0d644030" /><Relationship Type="http://schemas.openxmlformats.org/officeDocument/2006/relationships/slide" Target="/ppt/slides/slide15.xml" Id="R2e7bdda1d15745c6" /><Relationship Type="http://schemas.openxmlformats.org/officeDocument/2006/relationships/slide" Target="/ppt/slides/slide16.xml" Id="Raec91dc91c514741" /><Relationship Type="http://schemas.openxmlformats.org/officeDocument/2006/relationships/slide" Target="/ppt/slides/slide17.xml" Id="Re2d8008ff5514df0" /><Relationship Type="http://schemas.openxmlformats.org/officeDocument/2006/relationships/slide" Target="/ppt/slides/slide18.xml" Id="R6a666528fc4b4c4a" /><Relationship Type="http://schemas.openxmlformats.org/officeDocument/2006/relationships/slide" Target="/ppt/slides/slide19.xml" Id="R45156604fb4d44a9" /><Relationship Type="http://schemas.openxmlformats.org/officeDocument/2006/relationships/slide" Target="/ppt/slides/slide20.xml" Id="R30fc39c743294353" /><Relationship Type="http://schemas.openxmlformats.org/officeDocument/2006/relationships/slide" Target="/ppt/slides/slide21.xml" Id="Rab3a7ce0697d4e5d" /><Relationship Type="http://schemas.openxmlformats.org/officeDocument/2006/relationships/slide" Target="/ppt/slides/slide22.xml" Id="R60185a87b9384ba4" /><Relationship Type="http://schemas.openxmlformats.org/officeDocument/2006/relationships/slide" Target="/ppt/slides/slide23.xml" Id="Rdd892603012c43b3" /><Relationship Type="http://schemas.openxmlformats.org/officeDocument/2006/relationships/slide" Target="/ppt/slides/slide24.xml" Id="R4da9d118e79c489d" /><Relationship Type="http://schemas.openxmlformats.org/officeDocument/2006/relationships/slide" Target="/ppt/slides/slide25.xml" Id="R34bafbf9bb014559" /><Relationship Type="http://schemas.openxmlformats.org/officeDocument/2006/relationships/slide" Target="/ppt/slides/slide26.xml" Id="R2720e1471d9c46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27031973343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c6704188e4c89" /><Relationship Type="http://schemas.openxmlformats.org/officeDocument/2006/relationships/notesMaster" Target="/ppt/notesMasters/notesMaster1.xml" Id="R6c08293cd33e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8caa2a5154edc" /><Relationship Type="http://schemas.openxmlformats.org/officeDocument/2006/relationships/notesMaster" Target="/ppt/notesMasters/notesMaster1.xml" Id="R2718f0f81c64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a3578ccf5e438b" /><Relationship Type="http://schemas.openxmlformats.org/officeDocument/2006/relationships/notesMaster" Target="/ppt/notesMasters/notesMaster1.xml" Id="R6742ae262c28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991432cc54da2" /><Relationship Type="http://schemas.openxmlformats.org/officeDocument/2006/relationships/notesMaster" Target="/ppt/notesMasters/notesMaster1.xml" Id="Rb75dba9c9a92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77403ef084fdb" /><Relationship Type="http://schemas.openxmlformats.org/officeDocument/2006/relationships/notesMaster" Target="/ppt/notesMasters/notesMaster1.xml" Id="R213f5241c4fb45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1184400504901" /><Relationship Type="http://schemas.openxmlformats.org/officeDocument/2006/relationships/notesMaster" Target="/ppt/notesMasters/notesMaster1.xml" Id="R149bb1a7a9ad4e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8d4534a1d472f" /><Relationship Type="http://schemas.openxmlformats.org/officeDocument/2006/relationships/notesMaster" Target="/ppt/notesMasters/notesMaster1.xml" Id="Ra4ddc0e2e062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de122eeb74af1" /><Relationship Type="http://schemas.openxmlformats.org/officeDocument/2006/relationships/notesMaster" Target="/ppt/notesMasters/notesMaster1.xml" Id="R65e0508e6b0341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5c3ad0a32b4b3b" /><Relationship Type="http://schemas.openxmlformats.org/officeDocument/2006/relationships/notesMaster" Target="/ppt/notesMasters/notesMaster1.xml" Id="Ra11fab1e4bd243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d918fa49474de0" /><Relationship Type="http://schemas.openxmlformats.org/officeDocument/2006/relationships/notesMaster" Target="/ppt/notesMasters/notesMaster1.xml" Id="Re3603a790cf249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405ed385cf41e6" /><Relationship Type="http://schemas.openxmlformats.org/officeDocument/2006/relationships/notesMaster" Target="/ppt/notesMasters/notesMaster1.xml" Id="R13c4cdbd280042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a4c022a20348ea" /><Relationship Type="http://schemas.openxmlformats.org/officeDocument/2006/relationships/notesMaster" Target="/ppt/notesMasters/notesMaster1.xml" Id="Rb724d44eb418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af23b7ffae4886" /><Relationship Type="http://schemas.openxmlformats.org/officeDocument/2006/relationships/notesMaster" Target="/ppt/notesMasters/notesMaster1.xml" Id="Rf22452eb470d4e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9b920d4f6444ad" /><Relationship Type="http://schemas.openxmlformats.org/officeDocument/2006/relationships/notesMaster" Target="/ppt/notesMasters/notesMaster1.xml" Id="Re339b7340e1341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1228f156304326" /><Relationship Type="http://schemas.openxmlformats.org/officeDocument/2006/relationships/notesMaster" Target="/ppt/notesMasters/notesMaster1.xml" Id="R729d1824cb3d4c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dd06b35f9f47a7" /><Relationship Type="http://schemas.openxmlformats.org/officeDocument/2006/relationships/notesMaster" Target="/ppt/notesMasters/notesMaster1.xml" Id="R7b4f5f24d3ed48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b49c6647ca4c5b" /><Relationship Type="http://schemas.openxmlformats.org/officeDocument/2006/relationships/notesMaster" Target="/ppt/notesMasters/notesMaster1.xml" Id="Rdf2fecd0c15349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da9a0824d145e8" /><Relationship Type="http://schemas.openxmlformats.org/officeDocument/2006/relationships/notesMaster" Target="/ppt/notesMasters/notesMaster1.xml" Id="R6de797cc04114a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0b8e828ec742cc" /><Relationship Type="http://schemas.openxmlformats.org/officeDocument/2006/relationships/notesMaster" Target="/ppt/notesMasters/notesMaster1.xml" Id="Rf89e4218b6b348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d216189bbb428b" /><Relationship Type="http://schemas.openxmlformats.org/officeDocument/2006/relationships/notesMaster" Target="/ppt/notesMasters/notesMaster1.xml" Id="R5f670abde27c4c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fc0b1b96db4503" /><Relationship Type="http://schemas.openxmlformats.org/officeDocument/2006/relationships/notesMaster" Target="/ppt/notesMasters/notesMaster1.xml" Id="Rcbf74c2c60654f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9d6beec2cd4fb6" /><Relationship Type="http://schemas.openxmlformats.org/officeDocument/2006/relationships/notesMaster" Target="/ppt/notesMasters/notesMaster1.xml" Id="R2f6862ea764046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2bc781bddd4a66" /><Relationship Type="http://schemas.openxmlformats.org/officeDocument/2006/relationships/notesMaster" Target="/ppt/notesMasters/notesMaster1.xml" Id="Rab548047870846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d21a648cf4499e" /><Relationship Type="http://schemas.openxmlformats.org/officeDocument/2006/relationships/notesMaster" Target="/ppt/notesMasters/notesMaster1.xml" Id="R8fe3ee2f008645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c21970907346af" /><Relationship Type="http://schemas.openxmlformats.org/officeDocument/2006/relationships/notesMaster" Target="/ppt/notesMasters/notesMaster1.xml" Id="R11454f5ccc354c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54cf10193a442b" /><Relationship Type="http://schemas.openxmlformats.org/officeDocument/2006/relationships/notesMaster" Target="/ppt/notesMasters/notesMaster1.xml" Id="R0add933ff5db44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913237dab4d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bfe3ef9fa4f38" /><Relationship Type="http://schemas.openxmlformats.org/officeDocument/2006/relationships/slideLayout" Target="/ppt/slideLayouts/slideLayout1.xml" Id="Ra6370c6c1b8a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370c6c1b8a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292fe04fa47f2" /><Relationship Type="http://schemas.openxmlformats.org/officeDocument/2006/relationships/notesSlide" Target="/ppt/notesSlides/notesSlide1.xml" Id="R43bc5d3e11dd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65b8589aa4493" /><Relationship Type="http://schemas.openxmlformats.org/officeDocument/2006/relationships/notesSlide" Target="/ppt/notesSlides/notesSlide2.xml" Id="R1347f5865483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63faa33c84673" /><Relationship Type="http://schemas.openxmlformats.org/officeDocument/2006/relationships/notesSlide" Target="/ppt/notesSlides/notesSlide3.xml" Id="R0b6e92ac7ae6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917a560f414b" /><Relationship Type="http://schemas.openxmlformats.org/officeDocument/2006/relationships/notesSlide" Target="/ppt/notesSlides/notesSlide4.xml" Id="R0f6d3e7a1cc9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1cfa810184727" /><Relationship Type="http://schemas.openxmlformats.org/officeDocument/2006/relationships/notesSlide" Target="/ppt/notesSlides/notesSlide5.xml" Id="R049d0bafc3ab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d93158c4548b3" /><Relationship Type="http://schemas.openxmlformats.org/officeDocument/2006/relationships/notesSlide" Target="/ppt/notesSlides/notesSlide6.xml" Id="R949a14abcf1b4f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bbf418b8f4f40" /><Relationship Type="http://schemas.openxmlformats.org/officeDocument/2006/relationships/notesSlide" Target="/ppt/notesSlides/notesSlide7.xml" Id="R8968ef9428e946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6f4bcaced445a" /><Relationship Type="http://schemas.openxmlformats.org/officeDocument/2006/relationships/notesSlide" Target="/ppt/notesSlides/notesSlide8.xml" Id="R9af4ec5e73784f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7e10f52384e45" /><Relationship Type="http://schemas.openxmlformats.org/officeDocument/2006/relationships/notesSlide" Target="/ppt/notesSlides/notesSlide9.xml" Id="R9d1dc618d5c342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185a52a9b4857" /><Relationship Type="http://schemas.openxmlformats.org/officeDocument/2006/relationships/notesSlide" Target="/ppt/notesSlides/notesSlide10.xml" Id="Rd04ffdedb17b43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8cb4b7be4a72" /><Relationship Type="http://schemas.openxmlformats.org/officeDocument/2006/relationships/notesSlide" Target="/ppt/notesSlides/notesSlide11.xml" Id="R46eaf71ec3064c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e108ea78a4728" /><Relationship Type="http://schemas.openxmlformats.org/officeDocument/2006/relationships/notesSlide" Target="/ppt/notesSlides/notesSlide12.xml" Id="Rb8543aa8c95a49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91428e9f34260" /><Relationship Type="http://schemas.openxmlformats.org/officeDocument/2006/relationships/notesSlide" Target="/ppt/notesSlides/notesSlide13.xml" Id="Ra35d789fc3e241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48519f35140b3" /><Relationship Type="http://schemas.openxmlformats.org/officeDocument/2006/relationships/notesSlide" Target="/ppt/notesSlides/notesSlide14.xml" Id="R3ede52f246d94b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b73516706448d" /><Relationship Type="http://schemas.openxmlformats.org/officeDocument/2006/relationships/notesSlide" Target="/ppt/notesSlides/notesSlide15.xml" Id="Rabcb47c65b7f4a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d2cf9f92747f7" /><Relationship Type="http://schemas.openxmlformats.org/officeDocument/2006/relationships/notesSlide" Target="/ppt/notesSlides/notesSlide16.xml" Id="R580a69025d6444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50858910e4220" /><Relationship Type="http://schemas.openxmlformats.org/officeDocument/2006/relationships/notesSlide" Target="/ppt/notesSlides/notesSlide17.xml" Id="R0adce2fd593f4d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fece793f417e" /><Relationship Type="http://schemas.openxmlformats.org/officeDocument/2006/relationships/notesSlide" Target="/ppt/notesSlides/notesSlide18.xml" Id="R86a859832bf74f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20fb56e814b4d" /><Relationship Type="http://schemas.openxmlformats.org/officeDocument/2006/relationships/notesSlide" Target="/ppt/notesSlides/notesSlide19.xml" Id="R2218547cc15e45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0f4fb1cd14778" /><Relationship Type="http://schemas.openxmlformats.org/officeDocument/2006/relationships/notesSlide" Target="/ppt/notesSlides/notesSlide20.xml" Id="R25503250d2c345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d93b58b1247a1" /><Relationship Type="http://schemas.openxmlformats.org/officeDocument/2006/relationships/notesSlide" Target="/ppt/notesSlides/notesSlide21.xml" Id="Ree20b2a9857b42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a07cc3e49474d" /><Relationship Type="http://schemas.openxmlformats.org/officeDocument/2006/relationships/notesSlide" Target="/ppt/notesSlides/notesSlide22.xml" Id="R2ba4ed2b734b47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9413290748b8" /><Relationship Type="http://schemas.openxmlformats.org/officeDocument/2006/relationships/notesSlide" Target="/ppt/notesSlides/notesSlide23.xml" Id="Re9246f9bd3294b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f59456bd64602" /><Relationship Type="http://schemas.openxmlformats.org/officeDocument/2006/relationships/notesSlide" Target="/ppt/notesSlides/notesSlide24.xml" Id="R426c44f0b27348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5ca715fe4a3b" /><Relationship Type="http://schemas.openxmlformats.org/officeDocument/2006/relationships/notesSlide" Target="/ppt/notesSlides/notesSlide25.xml" Id="Ra7a933c7024b4d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b861bf094e2a" /><Relationship Type="http://schemas.openxmlformats.org/officeDocument/2006/relationships/notesSlide" Target="/ppt/notesSlides/notesSlide26.xml" Id="Ra367c5334efd4e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49A19-9BAD-4BA3-B2C7-109EC20B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ألفكار ERP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7694A-747A-4A87-97B4-EA55BE2B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فرصة شراكة واستثمار لتحويل منصة ألفكار إلى منتج جاهز للسوق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7FE4B-C6CD-4555-8DA1-D17222B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3162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BE52-EA0F-415F-B7D6-66C8E085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47750"/>
            <a:ext cx="2628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المنتج ليس فكرة أولية.</a:t>
            </a:r>
          </a:p>
          <a:p xmlns:a="http://schemas.openxmlformats.org/drawingml/2006/main">
            <a:pPr algn="r">
              <a:defRPr sz="2025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هو نظام قائم يحتاج تمويل تجاري للتجهيز، الاختبار، والنشر.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0887C-9D69-4E98-B1B9-097E715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47D21-0863-4707-91FC-77E5B33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E3803-7C34-4111-B626-95A17132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وحدة أعمال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C33D-67D9-4530-8C76-E53A1C8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35BC2-54DD-44F3-A098-116DEDA4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833-071A-4C6A-96EB-8659778A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ملف Endpoint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025E4-2D5F-4307-BE30-9A579AC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96E6-64B9-4AC7-B3FE-291D3606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A7F4E-DB94-4410-A991-3C4F785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أخطاء بناء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5C826-434F-4CCB-BA0E-7445F02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A5CBE-4283-41A0-A9B6-2EB93B0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55038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472F4-CF75-4EDA-9A67-119C417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الخلاصة التنفيذية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2F384-6770-4C25-A743-CAF275E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ما الذي نملكه الآن، ولماذا نطلب الشراكة؟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450AA-52B7-4A6F-B89F-C6FE5D01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E8F17-FB54-432B-B933-A558D21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95491-C2FE-4D46-90DD-1B84138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C8D33-82A4-47FD-B30A-E2BADCF5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D8A55-F1A8-47BE-BDB3-1EF05DC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الأصل الحالي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21526-F616-4F64-980C-5014701D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منصة تخطيط موارد معيارية مبنية على .NET و Blazor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تغطي الموارد البشرية، الحسابات، المخزون، المبيعات، وغيرها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توجد حزمة UAT ومخزون وظائف جاهز للمراجعة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C4B25-9A90-4054-A249-62EC1C77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7D63-9BC7-48CE-B96C-F86CA7A5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مستوى النضج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58856-C2E0-493D-93CF-373E63A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البناء الكامل ينجح بلا أخطاء أو تحذيرات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جاهز لعروض تجريبية وطيارين محدودين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يحتاج تقوية QA، النشر، والدعم قبل التوسع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4151C-E75E-4E93-80CB-963DFEFD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EA163-15D0-4812-9CF9-6F08980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هدف التمويل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93DFE-0BD1-45C2-B52B-5BB6F9E2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تحويل المنتج إلى عرض تجاري قابل للبيع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تهيئة أول 10 عملاء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بناء التشغيل، الاستضافة، والتوثيق</a:t>
            </a:r>
          </a:p>
        </p:txBody>
      </p:sp>
    </p:spTree>
    <p:extLst>
      <p:ext uri="{BB962C8B-B14F-4D97-AF65-F5344CB8AC3E}">
        <p14:creationId xmlns:p14="http://schemas.microsoft.com/office/powerpoint/2010/main" val="17623515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038F4-C7FD-40BF-8289-D946574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حجم المنتج الحالي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39C02-3C9C-44B5-A030-1FC2981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مؤشرات من فحص المستودع المحلي وحزمة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9A635-0D55-4726-8B5F-B04A9DF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2D8C9-43CD-4C2D-9835-A2F176F7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1B368-6CE2-44D0-BF44-1EB1CAC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265D8-C183-4FE6-A57B-5E1E6B97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323D2-29A1-482A-939E-0726B4CA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B82AA-4F59-40DF-A1E0-A4BD9BC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وحدة أعمال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E19AB-5681-4830-AE95-6E87089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395F5-CD24-4D12-AB01-AAF46FC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BB957-EBCB-4BAC-A035-DD675B2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مشروع .NET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AE8E9-8809-4F8B-BD7E-99DB8C4E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395C5-2225-4872-AFEA-05E4366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9337F-37C2-4BCA-9868-F9579B99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Backend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E0214-7E29-4B21-8C4D-9B2143C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3D543-9C0B-4C94-9CB1-712AEDD2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977C6-EEA5-4221-AE80-27D76BA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ملفات Razor/UI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2B6A0-ACE2-4B1C-933D-17535B1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47682-53B4-4B30-AD40-DF5042C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263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7B858-3A93-4F95-AA7A-19C08F03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صف وظائف UAT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B8C5B-3D7D-41C0-8AD1-6A596DB8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B046B-86C0-46C1-987A-262E1CA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AB1F0-9AAA-4923-9CCB-AFC60C72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مسارات واجهة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661E7-E910-452E-99E5-E99A639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تقريبا 193 ألف سطر C# و81 ألف سطر Razor. هذا حجم منتج مؤسسي حقيقي، وليس مجرد نموذج شاشة.</a:t>
            </a:r>
          </a:p>
        </p:txBody>
      </p:sp>
    </p:spTree>
    <p:extLst>
      <p:ext uri="{BB962C8B-B14F-4D97-AF65-F5344CB8AC3E}">
        <p14:creationId xmlns:p14="http://schemas.microsoft.com/office/powerpoint/2010/main" val="1502207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72A55-20A9-46A1-B3CD-4747D64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الجاهزية الحالية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30F59-5FA3-4DAD-933C-40DE959C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جاهز للبيع التجريبي، وليس بعد للبيع الجماعي بلا ضوابط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ACB7B-39EC-42E3-AD33-D73E905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AA657-4737-4146-978A-B36CD36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E5062-82C4-48B0-9F28-B2EA3DB1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0008E-902F-4529-97BB-6AFE8CC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CAE32-F341-4ED3-B173-0DC3A688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إشارات إيجابية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7F96-41FD-4024-B28C-02AAE8C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الحل الكامل يبنى بنجاح خلال نحو 55 ثانية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0 أخطاء و0 تحذيرات في آخر بناء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UAT workbook وقوائم اختبار موجودة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18EF7-95A8-4AB3-A548-DF01316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FFC85-A7BF-4796-BF5E-67083396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ما يحتاج تقوية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2B8C8-BEB4-4EDE-B7A2-25289FF3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تغطية اختبارات آلية محدودة حاليا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بعض العلامات الفنية تحتاج تنظيف قبل الإنتاج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نحتاج مراقبة، نسخ احتياطي، ودليل نشر واضح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6BDA6-A912-418E-8AA4-F86B6779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10F3A-C106-4ED3-B58C-D67F047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الاستنتاج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B4CC7-5015-45BA-B3DC-0832158E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يمكن بيعه الآن كطيار مراقب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البيع لـ10 شركات يحتاج 4-6 أشهر تجهيز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النضج SaaS الكامل يحتاج 9-12 شهر</a:t>
            </a:r>
          </a:p>
        </p:txBody>
      </p:sp>
    </p:spTree>
    <p:extLst>
      <p:ext uri="{BB962C8B-B14F-4D97-AF65-F5344CB8AC3E}">
        <p14:creationId xmlns:p14="http://schemas.microsoft.com/office/powerpoint/2010/main" val="10323924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2A0E4-DAB2-4540-9712-038138DE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مراحل الوصول للسوق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ADE03-11B5-43F3-BB88-9DA0899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خارطة زمنية عملية بدون مبالغة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7B20-8A0D-43A1-8C7F-7BC46CF8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1A16A-C1EA-4204-B899-331EC12C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6876A-BE6A-4E0B-8451-F5A1B0A3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28930-733B-40D1-953F-945F576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2F727-40F8-4171-A220-3CF2177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0-1 شهر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3661C-8453-47BF-983A-D29D29FA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عرض وتجربة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223A7-7F8B-4585-A1C8-B0EF1919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تجهيز بيانات عرض، نشر أولي، وسيناريوهات بيع.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F1CD-4E0D-4BE8-A1DA-918778FE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04171-34B7-40C9-8D98-4405D0DD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2-3 أشهر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8877A-D560-41F6-B0CC-C98C888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أول عملاء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1EBDA-6D80-49F1-AAEB-74FFF8D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1-2 شركة صديقة مع دعم مباشر وتوثيق.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D9F25-67C5-44FE-BF0F-78626D92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119F5-C846-4478-8C8E-AFFA1B8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4-6 أشهر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45387-3917-4DAF-9040-200B3DE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شركات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CB969-8793-4B16-B250-21CA5D6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تشغيل منظم، استضافة، QA، ودعم.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5F6BD-8C67-4813-B1E7-EE29521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A6989-8DC2-4CEE-9662-4BEDE8F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9-12 شهر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563BB-074B-4246-8D09-88C955B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نضج SaaS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1D88D-E3D3-488E-95D9-C0223E3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أتمتة، مراقبة، SLA، وتوسع مستقر.</a:t>
            </a:r>
          </a:p>
        </p:txBody>
      </p:sp>
    </p:spTree>
    <p:extLst>
      <p:ext uri="{BB962C8B-B14F-4D97-AF65-F5344CB8AC3E}">
        <p14:creationId xmlns:p14="http://schemas.microsoft.com/office/powerpoint/2010/main" val="1493139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C539F-4E48-4C93-9C6D-27706DD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الفريق المطلوب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53042-8D30-4879-BE85-70A2043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فريق صغير لكنه خبير يكفي للوصول لأول 10 عملاء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3D417-6095-4C09-BF70-0DB02FF1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61B2F-F3EF-4570-B1C5-9F0BBE9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924E4-2468-4EC4-BDF5-C80BED1B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9B5AE-F49A-4142-B046-7F7D0F9B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BD770-C268-4417-9080-860FB0E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2FD68-6E5F-4276-A36F-D4345FE5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165B9-E59D-4240-8330-0A586312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المستوى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55A1A-E315-4F68-8F6A-6C80A4D8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52FF5-7B55-4D83-86C6-321B713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الاحتياج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AC9E1-372D-4DBD-803A-60DBE8D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3C9E2-9B7A-46D3-B6F6-860F94D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قائد تقني / معماري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C7C0D-DA62-4D8C-A72F-3EE8E15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F80FB-3B56-4509-80DE-4D81D4C2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812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8-12 سنة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5117C-27A3-405B-BB25-6748CDDE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2FA08-CB08-4823-865E-3C1D21D0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812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دوام كامل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F642A-C5FC-429D-A2D7-5ED1C475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314BE-A289-4D0C-91F4-C85DF37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مطور .NET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0CA36-67F3-473B-9039-A417A56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AFB75-6FF9-49BA-AF88-E7924F25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765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4-8 سنوات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5619A-8A99-4E40-990D-CC6E980A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3F51E-D520-4E0D-9130-B56A4FF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دوام كامل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81A6D-2F77-49CF-B7BA-3F1D7FD7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08F3C-652B-4CCB-9781-47FA73B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مطور Blazor / 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27C95-B0D5-4718-8774-B093F78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977B8-EB76-457C-A179-80E063F1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71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4-8 سنوات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E779C-7197-470D-95EA-EB73BA6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EF79C-9F6D-4744-A21D-54A71B12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718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دوام كامل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4747C-D882-48BA-A6B9-C8BD1A0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3D0EC-ABF8-42DC-86AD-B11A7E80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QA / UAT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B158B-3B8C-4693-88F4-7DF0BEBD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7B649-30A2-475F-9150-4218661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671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3-6 سنوات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831C2-C4AB-4923-B42F-9959E6E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B57C6-CAD8-43CA-976A-23AF7606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دوام كامل قبل الإطلاق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020E7-2FE8-4F74-9274-17C9EF4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766E8-ADEC-4092-8CF0-96D6882F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DevOps / Cloud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3B039-C128-46C9-AA4F-E2E93AC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1319D-6142-4513-9D21-53CB0E8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624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5+ سنوات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B9C7A6-6064-456E-9C95-C01B6B4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9FE0C-419A-4408-8DF2-ED7A5118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624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جزئي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2B2FDE-17E8-4F99-AD12-AC1878B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0F8406-C926-40C4-9B61-4E45810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مستشار ERP / محلل أعمال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1F471B-EA9A-43F4-BF1C-796E488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6C770B-1C74-4F26-A105-DD00DC9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57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7+ سنوات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511890-C8FF-4EF4-80FC-0E62F041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3A8F2-5FB4-4313-98EC-99C1643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جزئي / استشاري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1691EE-C1FA-49F0-9641-CA63273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93A12F-8647-4B0F-9453-36B7366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تنفيذ ودعم عملاء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1882E3-C2CB-4EE5-9B8E-043F98B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67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FE64FE-EC4C-460C-9FEB-5FEF4D9F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530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2-5 سنوات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A07797-9EE0-464E-9AA9-98332FA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18A73F-F24A-4428-B6F1-788E7408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530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مع أول العملاء</a:t>
            </a:r>
          </a:p>
        </p:txBody>
      </p:sp>
    </p:spTree>
    <p:extLst>
      <p:ext uri="{BB962C8B-B14F-4D97-AF65-F5344CB8AC3E}">
        <p14:creationId xmlns:p14="http://schemas.microsoft.com/office/powerpoint/2010/main" val="6469338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6C263-D4D9-484B-A1E4-C1F5EDE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ميزانية التجهيز التجاري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E215-A6F8-495A-BC63-2C882A39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تقديرات 6 أشهر بالريال السعودي، بدون احتساب وقت المؤسس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E3741-D5DC-463B-ADAD-80C2A95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92C01-B337-4A18-8AD1-D3A48F3C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0DBD8-3725-484C-AB1C-59B8F69D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2022-3B3A-4159-BC44-E754CE78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74EAE-E997-4F19-A283-D3B4D40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280k-470k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7C40D-D8BB-46DF-B451-A7FC1096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ريال - فريق خفيف ومختلط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27BE7-F232-4D5C-937A-8D7A8FFF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596A6-2592-40C7-BA6A-FECA192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560k-1.03M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091B7-C735-4EBC-808F-E0A820EE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ريال - إطلاق احترافي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86643-A0DA-48EF-9E37-106D23AB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8D186-742A-4CBA-9309-E9E568EA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1.13M-1.88M+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00792-B722-4DBF-ACA7-CE08FA6C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ريال - توسع SaaS قوي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54A29-A59A-4E4D-BA71-11483EB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كل الأرقام تقديرية بالريال السعودي ومخصصة لتخطيط التمويل، وليست عرضا تعاقديا.</a:t>
            </a:r>
          </a:p>
        </p:txBody>
      </p:sp>
    </p:spTree>
    <p:extLst>
      <p:ext uri="{BB962C8B-B14F-4D97-AF65-F5344CB8AC3E}">
        <p14:creationId xmlns:p14="http://schemas.microsoft.com/office/powerpoint/2010/main" val="19456161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DB125-1645-4FCB-8D9E-54D08837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تكلفة الاستضافة لـ10 شركات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DF985-3762-48F4-A4A5-35644FD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أرقام بنطاقات للتخطيط، وليست عروض أسعار نهائية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A2D4E-1BE1-4E01-9F06-405A00D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292B6-C128-4FB5-8CE0-91ED3C1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F7CD8-394A-4FAB-B6CF-D3EBAE5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C196B-6E97-4D68-84F6-0900484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2B198-151D-41C2-ADAB-138890B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الخيار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A124C-E251-420C-A2B9-0B10E52E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A5A0F-A6A7-402A-828A-E773A53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تكلفة شهرية متوقعة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981D6-1DCF-4F58-A0E2-9AF52FD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E502D-3CC5-4FB1-8BE2-80A28A32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الرأي العملي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A31A5-A9A6-4465-8742-9B7EF3D3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E9BC2-6466-467C-821F-666AE777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استضافة ذاتية عند العميل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60E60-B063-4326-990B-A474310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A4B9F-AF35-4DD7-83F0-110DDC87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574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 ريال مباشر علينا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F1323-5693-4526-9223-910453C6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E1CA8-9711-486D-9E22-65F7EAD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574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جيدة للبدايات، أصعب في الدعم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943C2-47F2-4749-B9C3-B7C1438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8FAEF-FAAA-4024-87EF-9AFAD38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SmarterASP shared / semi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765D0-41B8-40CE-A879-E7F9773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45DEE-83C0-4CFB-8D90-A75C3340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28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300-1,125 ريال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48749-F0F2-4B93-AE0A-505E0E2C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30D56-A494-4926-940B-CAA2446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289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رخيصة للعرض والعملاء الصغار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10075-66E4-4883-9565-E9406C56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667AF-A882-4BFE-9F04-78484D5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SmarterASP VPS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96035-F5C1-4F63-B68B-2C0AD58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0F898-E152-4814-A729-DF63D64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004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750-3,000 ريال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30272-2C8F-4697-AB3C-6BDB11F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7B55F-2B3C-4FB7-A311-7C760AB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004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خيار عملي لأول العملاء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E2F9D-4E6D-4FA9-9109-4B950F3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7E396-06F8-4C38-9094-5479C46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Azure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97467E-6F02-4007-AE6F-CDA36B0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86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BD15F-FEBF-4F30-84D5-DABF893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71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2,625-9,375+ ريال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8C97B-4DE4-4CDF-A058-F99E716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8C1CC-F6BE-460E-AA36-A76630E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أفضل للمصداقية والتوسع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33E44-6423-45D9-B2EA-2A8DD1FD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المصادر: صفحات أسعار SmarterASP وAzure العامة. Azure يعامل هنا كنطاق ميزانية لا كعرض ملزم.</a:t>
            </a:r>
          </a:p>
        </p:txBody>
      </p:sp>
    </p:spTree>
    <p:extLst>
      <p:ext uri="{BB962C8B-B14F-4D97-AF65-F5344CB8AC3E}">
        <p14:creationId xmlns:p14="http://schemas.microsoft.com/office/powerpoint/2010/main" val="20760651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0D5A5-65C5-41FF-AB04-1508717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إيرادات السوق السعودي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EB699-75FA-4F18-8730-A599A086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نموذج اشتراك شهري + رسوم إعداد للشركات الصغيرة والمتوسطة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EA299-F809-4029-8EFF-A2AC437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A87B-769E-4902-8F3F-97315018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99FA8-C4C9-493C-A256-1D698A3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663AB-E25F-48CF-B7E3-F1C56EC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B7E33-FDFE-46A2-B3A7-12FCD61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السيناريو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A9B0-24B2-4A67-AA6D-291E679A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0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6A681-2946-4362-BA21-E255D4C3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الإيراد الشهري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5BC0C-5E83-4F58-A46A-1AE369D6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00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06182-A634-4D40-BFCD-F8D23CC4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95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 سنوي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B946B-A74B-4BEA-9016-B64A88B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00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3FB0-584A-44B5-861A-7C8CFD8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95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رسوم إعداد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65402-5E36-4B62-BCBA-60102635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0250"/>
            <a:ext cx="2581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74F15-3104-4519-92F8-ACED99D5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95500"/>
            <a:ext cx="239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إيراد السنة الأولى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CFE62-7431-4D6D-B221-E3A84C1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5C621-628F-4220-B261-2EF2C5C8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محافظ - 10 شركات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41582-F307-47B4-A517-94559B54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146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06B30-6EE5-49DD-BBEE-D92194E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003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15k ريال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DE04A-0CCA-4DDF-8C03-FA3E4F9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146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80E76-657B-4E4D-A80A-62D108A8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003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180k ريال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B893A-ECE8-4C1F-AA31-7910B3AD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146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A8116-B487-4383-8965-CFC7AB4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003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120k ريال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21C34-D932-4CDC-9C86-2D7BB1B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14600"/>
            <a:ext cx="2581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2A5AF-4820-40DC-BA15-8230BAB6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0032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300k ريال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50C6C-3C71-47B9-B85B-DDF9525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F5B67-81FF-406B-8037-1417172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أساسي - 10 شركات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C4E40-F63E-488A-AF9D-6A3D369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289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82BE5-BF86-4A07-B78B-EF7804D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14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35k ريال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F5862-9568-45F8-B1CA-97E0F3A7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289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A2457-2690-4C64-928A-74DDA4C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14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420k ريال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07934F-2FB9-4486-B920-273D00F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289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1FC2D-3E02-4E26-B2C0-462B7679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14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250k ريال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C605A8-11BD-4915-8AAD-32963E6D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28950"/>
            <a:ext cx="2581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497310-DB21-4FD6-A5D7-BECF5BC5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1467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670k ريال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0F9BA3-7CBE-4A53-B5EA-C777DF22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A1670A-9856-441B-A145-13696023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قوي - 10 شركات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5C260B-0239-455B-A559-8366B36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433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B4E5CB-5F86-41F5-BEB7-EDE6FBC6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290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75k ريال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F86E2-D42C-4C7D-87E9-EA63163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5433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CC4D6D-22D4-4B69-939A-51BCB9E0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290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900k ريال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E8F9C3-DE7E-49D6-BF4B-D6AD82FE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433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012C9F-63B5-4CC4-AC80-2E9966F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290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600k ريال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054D35-2038-4A55-B01B-374C5FD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543300"/>
            <a:ext cx="2581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12BDB2-C090-4D37-B140-B16F43C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2902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1.5M ريال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307EB7-2325-46D5-AA0D-C6FB7B3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233020-D0B3-44A3-9E49-83B1A36C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عدد العملاء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E650CA-8119-4F57-8A0E-E9E23CF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6DB42E-B9B5-48BC-8776-A57BF12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 محافظ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9F9998-01F9-4C2F-A415-CEFFD63A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070305-248F-4B1A-AA37-4D06FF5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 أساسي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F52C85-0024-42EC-A214-7A933805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E7BE38-3581-43DA-AB49-62FA101A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 قوي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C45BEA-7B32-416B-B909-A23CA1CD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2D4342-6F83-49CF-A118-C576E9C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EC4CA2-A012-4809-BC0B-C778A7A8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B9837D-C07E-4E1F-A092-5F44D53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450k ريال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057DCC-13E8-4525-A7B1-7D358467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C45EB1-7AEE-4E33-85DA-04495E5A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1.05M ريال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BDE8E5-FC20-48CB-B4B2-F25565D0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FACB81-1C39-4B85-A667-ECCDF57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2.25M ريال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4AE986-7438-4C97-B55F-2C2536AE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4189D7-EA30-4985-A7FE-60C3362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067F97-4DD3-4F92-BB18-3B11FF4A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E7D6CB-D20E-44A9-973F-172AB66C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900k ريال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A275C8-A367-43E8-9B8F-6BFDBCE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843074-48DB-46E2-BCC5-52AEEF0B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2.1M ريال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1A5A61-B2C7-49F2-84EC-49502C6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B3980F-3D4C-4016-9783-AA96B3F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4.5M ريال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998B45-9ECA-49FA-9B8D-56058FFE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FA6970-C1C6-41A8-8153-22C5153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F4F9B5-04FF-4B47-8F3D-F8A1AD1F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239BD0-A32F-4DDA-BE7B-195A30A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1.8M ريال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1D97BF-A978-4E54-9B09-4909AE0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EC993A-FC61-4747-B770-2A90672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4.2M ريال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A8D978-4E25-44F7-806F-B4B3BB5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C1F58B0-FCAB-4DC9-8630-0D3E26B4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9M ريال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25BA4-4D6A-4841-86CB-CA69901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الافتراض: عملاء سعوديون من 20-100 موظف، مع باقات شهرية ورسوم تنفيذ منفصلة.</a:t>
            </a:r>
          </a:p>
        </p:txBody>
      </p:sp>
    </p:spTree>
    <p:extLst>
      <p:ext uri="{BB962C8B-B14F-4D97-AF65-F5344CB8AC3E}">
        <p14:creationId xmlns:p14="http://schemas.microsoft.com/office/powerpoint/2010/main" val="749123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0C15D-37DA-469E-B5C3-7C91DDD9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جهد بناء نظام مشابه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04DAF-B7AA-417A-8B28-37D3A53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تقدير تكلفة ومدة بناء ERP بهذا الحجم من الصفر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895A4-31E4-43B2-86FC-5CEDA71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93777-E4AF-4FAA-B757-ABDA218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085C1-1349-423A-9FB3-1EED0762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2576F-1A4A-4571-B77B-0FC8D49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9F135-96AE-4D5B-B145-AD1D172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18-30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B618D-2FAB-40FE-B0D7-20DC62C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شهرا لبناء نسخة قابلة للسوق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893E0-9DE3-4F5E-A423-6996E2CB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59F92-8B04-4756-A47B-D3854C4E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7-9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B1836-D82F-4526-8E8E-CC2310DD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أدوار تقنية وتشغيلية مطلوبة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7633-6B42-4974-8DC7-738BC28D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84DF7-FC4F-4C5E-9B46-A6CFDBC3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2.5M-6M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CD1E-C493-41C7-BDB2-09DAE2E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ريال تكلفة بناء تقديرية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3046C-ED8C-49BC-9718-556684DD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2D8D9-516A-40ED-877B-31D10F3D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الفريق المطلوب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C30A6-E9B5-45A4-BA61-2273714A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E3299-0FDF-4D04-B69C-B3C5B1F9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المستوى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CABA8-41CA-4518-991E-62FD1E1A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52B54-A94A-44B6-9C8A-55B6C54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 في البناء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6777F-ED08-4FA3-BF05-1CAA0AF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60F14-102F-4642-AC2E-C410DC5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معماري / قائد تقني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FD4AC-F952-4B11-89E5-704AB57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25FBC-F8EF-4797-B775-CB5B6B4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Senior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77D72-2DF3-42EF-A5D8-17498FB4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A8647-942B-4AC0-826D-66F0F836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الهيكل، الجودة، قرارات التقنية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A4B6A-DCAC-4E1C-ABE4-C914EB7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9572F-7775-494F-9057-BA4BC9E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24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Backend + Frontend + 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8025D-F2D9-4CE8-8290-C0F41631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520C3-6391-41B7-9F56-BC51862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Mid-Senior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53D44-4522-49D6-AD2A-008BB4ED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387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AC1A3-5772-4159-A0AF-C190EB5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244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تطوير الوحدات، الواجهة، الاختبار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BB5BF-1702-4CE2-8A4D-1A64E2B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9E00CC-D505-4FC2-9061-58340525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DevOps + ERP Analyst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4C1A16-093D-431B-BD5A-F649025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8C1F55-7B92-4B16-BF26-6FCD5974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435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Senior/Consultant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2CCB7-3C55-400D-B72D-4967F0B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578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B9441-D9CE-43E9-810A-4018BBB5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435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النشر، المتطلبات، سير العمل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804EA-94CC-4621-87C3-BC5CE961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التكلفة أعلى إذا تم البناء عبر شركة خارجية كاملة أو مع QA مؤسسي واسع من اليوم الأول.</a:t>
            </a:r>
          </a:p>
        </p:txBody>
      </p:sp>
    </p:spTree>
    <p:extLst>
      <p:ext uri="{BB962C8B-B14F-4D97-AF65-F5344CB8AC3E}">
        <p14:creationId xmlns:p14="http://schemas.microsoft.com/office/powerpoint/2010/main" val="8903576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2F213-1805-4DBD-BA1A-BDD8D18D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مسار البيع المقترح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D974B-F685-4541-BF81-94C3A290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ابدأ صغيرا، أثبت القيمة، ثم وسع التشغيل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EFF74-A304-4BE0-9C18-489AC1ED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39DD2-E8FF-4261-8F47-29FEE54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9FC5-4981-4CA0-A2D8-0196CF4B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3305F-F1C4-4493-9CAB-DBED8DA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D142C-5A93-492C-9699-CA424B33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طيار مضبوط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25E7D-3D09-44DF-9C30-9ED6AAC5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شركة أو شركتان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بيانات عرض جاهزة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دعم مباشر من الفريق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0C9DB-2FEC-4310-B788-C205AEB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823D5-4EEA-41F0-A37E-88451A2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استضافة عملية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2E953-F2BF-47E4-9F21-03A8F89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VPS أو Azure حسب العميل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نسخ احتياطي ومراقبة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دليل نشر وتشغيل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73B98-3F23-4024-90E7-B2202A4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E4EC4-A745-42B3-9D80-F48D43F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توسع إلى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BB6CF-DCE5-445A-A9AD-DFFE4362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قوالب إعداد العملاء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تسعير واضح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فريق تنفيذ ودعم</a:t>
            </a:r>
          </a:p>
        </p:txBody>
      </p:sp>
    </p:spTree>
    <p:extLst>
      <p:ext uri="{BB962C8B-B14F-4D97-AF65-F5344CB8AC3E}">
        <p14:creationId xmlns:p14="http://schemas.microsoft.com/office/powerpoint/2010/main" val="5289748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8D2DE-B3C9-4EAF-97F3-C868FC27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طلب الشراكة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60C3-A30D-4A87-83AF-F1A7775D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التمويل المطلوب ليس لبناء فكرة؛ بل لتسويق منتج قائم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DF0B9-C659-4488-88EB-8BA02020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D4BE5-282F-43E2-888C-6067FAF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942B1-6533-4280-92E7-33FAEFDD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C2026-BF61-4FA2-B3B0-5F17628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F263D-440A-4A16-A750-586ACC0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استخدام التمويل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88208-EACF-477A-B7B3-51F8C27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QA وتثبيت المسارات الحرجة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تجهيز النشر والاستضافة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توثيق ودليل المستخدم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تجهيز فريق الدعم والتنفيذ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CE38A-C17C-4529-8008-12B9E3D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CFA03-69D5-4878-833D-A8FCA733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منطق المستثمر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50C39-E9EC-4912-A2F1-94E830F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الأصل التقني موجود بالفعل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المخاطر انتقلت من البناء إلى التسويق والتشغيل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أول 10 عملاء يمكن أن يثبتوا النموذج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929F7-4939-44E3-8697-D9AC3E10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40392-39DC-40CE-8560-1BACFEF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المخرجات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49DFA-1604-426D-A6DA-0E8D1676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منتج قابل للبيع بثقة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حالات استخدام حقيقية</a:t>
            </a:r>
          </a:p>
          <a:p xmlns:a="http://schemas.openxmlformats.org/drawingml/2006/main">
            <a:pPr algn="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بنية تسعير واستضافة قابلة للتكرار</a:t>
            </a:r>
          </a:p>
        </p:txBody>
      </p:sp>
    </p:spTree>
    <p:extLst>
      <p:ext uri="{BB962C8B-B14F-4D97-AF65-F5344CB8AC3E}">
        <p14:creationId xmlns:p14="http://schemas.microsoft.com/office/powerpoint/2010/main" val="10575444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01D8E-F9D3-4106-AE6D-1DD131CB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4C6BD-D9D1-442C-A03F-D7636256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ألفكار أصل تقني قائم يحتاج تمويلا للتجهيز التجاري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86F6B-FC3D-44FD-800C-9E93684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A3125-96F3-4440-95AC-B35E22D7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ألفكار ERP | عرض شراكة واستثمار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EBD3-90AB-4893-A353-705FAA7D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441EC-5C12-467B-8370-EEA73539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F7A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A"/>
                </a:solidFill>
                <a:latin typeface="Arial"/>
                <a:ea typeface="Arial"/>
                <a:cs typeface="Arial"/>
              </a:rPr>
              <a:t>الرسالة للمستثمر: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F6FD8-D3F4-4C0C-8FF1-8ED2D48B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نحن لا نطلب تمويلا لبناء نظام من الصفر.</a:t>
            </a:r>
          </a:p>
          <a:p xmlns:a="http://schemas.openxmlformats.org/drawingml/2006/main">
            <a:pPr algn="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نطلب شراكة لتحويل منصة مبنية فعليا إلى منتج جاهز للبيع، مدعوم بالاختبار، التشغيل، الاستضافة، وأول 10 عملاء.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5E067-7E13-4989-9376-BAC68D96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مصادر التقدير: فحص المستودع المحلي، نتيجة بناء الحل، حزمة UAT، صفحات SmarterASP، وصفحات أسعار Azure.</a:t>
            </a:r>
          </a:p>
        </p:txBody>
      </p:sp>
    </p:spTree>
    <p:extLst>
      <p:ext uri="{BB962C8B-B14F-4D97-AF65-F5344CB8AC3E}">
        <p14:creationId xmlns:p14="http://schemas.microsoft.com/office/powerpoint/2010/main" val="516209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1FD72-700C-4AB5-918A-80963C2B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AlAfkar ERP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75A13-1CF6-43C5-A5AF-645CA8D2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partnership and investment opportunity to commercialize an already-built ERP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7F58A-ED29-4242-BFF4-3EF67F1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9600"/>
            <a:ext cx="31623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1F0E4-1CA9-46BC-A2D6-44D77F4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47750"/>
            <a:ext cx="2628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This is not an idea-stage product.</a:t>
            </a:r>
          </a:p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It is an existing platform that needs funding for hardening, QA, deployment, and market rollout.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99766-A17D-42E6-B993-BD9E9EA5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83298-5B83-4758-AE4A-C780843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7CF0E-9811-40A3-B40B-928F63D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business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D06E9-AE64-4CD4-B764-DB4EE04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D35E7-5539-46C3-B946-C6FD3AAB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7E3CF-16D8-4FF3-A3B4-53544E8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endpoint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A59B9-9F5A-4D87-96DD-90727A4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2171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A9A36-0829-4A7F-9421-33D00010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CB7B0-DDE1-4762-83B7-9DD65FBA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005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build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FF010-B004-46B2-A661-36BFF00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3787D-2DFD-4C8A-BFC0-FE09B610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49307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44ABB-0A1F-477B-A397-C58E732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63E36-3FAD-484F-B14B-E2089C1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exists today, and why partnership funding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AEA84-2E23-4E1C-94E7-B8A01377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F18E6-8A6C-4DFC-82F5-05955936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8252D-4E39-490E-BA2A-5697C274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C4F09-5781-40C1-9882-7829145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B8DF7-F12C-4B22-AE66-A6A243E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asset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BB07C-BF4C-4104-B977-E224A446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Modular ERP built on .NET and Blazor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Covers HR, accounting, inventory, sales, and more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UAT package and functionality inventory exist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6620-986C-431F-B62F-5C889D9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B179C-9FE2-4974-93B2-668BACB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maturity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F338A-2F2D-44EC-9979-1062B0B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Full solution builds with no errors or warnings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Ready for demos and controlled pilots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Needs QA, deployment, and support hardening before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99291-D679-4D84-8C02-40EF041F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C634-C242-4C14-B173-C6B288D5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Funding purpose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EBDCB-FDA4-406F-ABD1-18BCC9D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781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Turn the platform into a repeatable commercial offer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Prepare the first 10 customer rollouts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Build hosting, documentation, and support operations</a:t>
            </a:r>
          </a:p>
        </p:txBody>
      </p:sp>
    </p:spTree>
    <p:extLst>
      <p:ext uri="{BB962C8B-B14F-4D97-AF65-F5344CB8AC3E}">
        <p14:creationId xmlns:p14="http://schemas.microsoft.com/office/powerpoint/2010/main" val="594930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DBB9B-3553-4C67-86B2-2862E30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Product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D41A2-6451-440D-B0C1-33D5C65B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Indicators from local repository inspection and UAT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68580-1197-46B2-935D-2C983720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02262-F9A0-433F-BD76-4CD55E6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FBE9C-6EBA-4033-A8A0-3C4A7F2D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C50B6-DBCB-480D-995D-27E1F72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183EA-8123-437B-A8EB-A03E7A77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2EEC5-7988-42F4-AF5F-F15349CB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business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D6A27-ED40-4796-A54E-645A7192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41C4-86D9-467A-9C2C-D132D9B3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2D36E-8A0D-4530-8F28-04B97DE7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.NET projects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11A30-4EB2-4848-A32F-60C46171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A4619-B631-440E-9D70-7DCE8C63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8B6B8-3168-44E7-A8F0-B62D735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backend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2455D-B0DF-4364-95C7-923FCDA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60B4C-469B-44A5-BF08-53FA1A99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2824A-4210-42B7-A9FC-25EB7BA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Razor/UI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D2464-4C6D-4026-BEF7-4FE663A2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C586-7F62-4875-9FB7-804D49D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263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F8BC2-CAFE-41A5-B500-33B1081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UAT function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C77BC-08AF-4452-9A32-EA52E18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336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5EA88-BB33-4FAE-84B0-2426E0B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24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9F562-1FA7-4746-AEB2-AE73CF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frontend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D55B2-E9E4-430A-9067-4F0D7638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Roughly 193k C# lines and 81k Razor lines. This is a real ERP platform, not a screen mockup.</a:t>
            </a:r>
          </a:p>
        </p:txBody>
      </p:sp>
    </p:spTree>
    <p:extLst>
      <p:ext uri="{BB962C8B-B14F-4D97-AF65-F5344CB8AC3E}">
        <p14:creationId xmlns:p14="http://schemas.microsoft.com/office/powerpoint/2010/main" val="4933382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917CB-4A15-46B1-BDCA-B9B6DE5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FEB5B-4DBD-4800-922F-40EB029D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Sellable as a controlled pilot, not yet as broad self-serve SaaS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2CF6E-0E8C-42E4-B9CE-15E49D3F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BE32-8EBD-44AC-A706-37B9BE76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5FBC4-D924-4596-8B19-564C537E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8F9B-4E2F-4323-88F9-C8016D6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253CB-0D9E-46C6-A4BB-4C1D867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Positive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71B8-C5C3-491D-AF04-FFF5F8C1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Full solution build completed in about 55 seconds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- 0 errors and 0 warnings in latest build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UAT workbook and test checklists already exist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BA481-B096-4140-9BF6-E46F3FE8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7BEF9-941A-4F52-BB1C-26B4E3D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Needs hardening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01C77-3629-4E49-9859-3017BEC2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Automated test coverage is currently limited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 few technical markers need cleanup before production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Monitoring, backup, and deployment runbooks are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57649-FD97-46E6-BE17-27E31307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044EF-D574-4C35-AC60-4759C89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04B0D-B239-41C4-8E40-2C0321B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76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Can be sold now as a managed pilot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Selling to 10 companies needs 4-6 months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Full SaaS maturity needs 9-12 months</a:t>
            </a:r>
          </a:p>
        </p:txBody>
      </p:sp>
    </p:spTree>
    <p:extLst>
      <p:ext uri="{BB962C8B-B14F-4D97-AF65-F5344CB8AC3E}">
        <p14:creationId xmlns:p14="http://schemas.microsoft.com/office/powerpoint/2010/main" val="8064104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E4BE6-DCE2-4AFE-81BB-D6FF85AB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Market Rollout Phases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401DC-4E6F-4BD3-897B-D4E35CA4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practical timeline without overpromising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5A03C-1DB9-4F85-8624-1CBC9359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11B98-773E-40B3-9FFA-D3F41A14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273E0-16B0-443C-A5B1-A9C4670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3142-17EB-46A8-BFD5-F8141F8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84EF9-9676-436A-8F92-748EB71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0-1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7B2E-1B60-4A08-A610-2E53E22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/ trial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80514-5887-4BB6-B0B3-437A1519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Prepare demo data, initial deployment, and sales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A9CCB-CA39-4A41-8DD9-05FAA91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A75A1-7B66-4FC7-92B8-D0599A7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2-3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D0850-C1B8-4ECE-9D03-BB3F4C55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First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48A36-2ABD-4D82-AD1B-07D21C9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1-2 friendly companies with direct support and documentation.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C2972-953F-4FA3-BE24-9E6EE793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8E027-1DC9-4B30-BC9D-71DC8D7B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4-6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86565-C93D-4E32-B4B8-D543864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 companies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100E6-3C21-4318-80C8-B8A8B567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Structured onboarding, hosting, QA, and support process.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7BE6E-34A5-460F-AB94-941A0A9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A8EE4-D76D-466E-8742-DA5B959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9-12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D7AEF-6593-4EC0-96C3-12EB471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SaaS maturity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C0D89-C201-4FAE-9F97-46B59029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Automation, monitoring, SLA, and stable scale operations.</a:t>
            </a:r>
          </a:p>
        </p:txBody>
      </p:sp>
    </p:spTree>
    <p:extLst>
      <p:ext uri="{BB962C8B-B14F-4D97-AF65-F5344CB8AC3E}">
        <p14:creationId xmlns:p14="http://schemas.microsoft.com/office/powerpoint/2010/main" val="20950852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BA2C5-FE4A-4268-8262-A53BFA7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Team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7224F-4B27-4536-9689-27CD7988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compact but experienced team can reach the first 10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C1E45-5312-4F53-A45C-0176EC5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14BF6-FBAE-41F5-BBB1-8D94EBA4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CABD2-813E-4C2D-ACA3-FCE8AB3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A241A-EC9B-4A5E-A5D9-137633B2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394E-7AAD-4A72-B4EB-1C0E96B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3457B-000F-46E3-86DD-0BF0E81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7966-5749-4CB3-840B-940E74AF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8E6FA-E4F8-4FB3-A4A3-534F1292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D3AB3-FD1B-4127-AF99-BA35A56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394DE-7CAB-46EB-A4AB-B7E84AA1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191A0-EA3B-4051-8C68-89C0774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Technical lead / architect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B43B2-FDF9-4F47-92C7-1E4AEE0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80CB3-3D48-4064-8A4D-F81ABA67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812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8-12 years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E915E-D458-4F0F-B8CF-B05E385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F9057-716E-4D51-8ADB-57E01E2F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812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Full-time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157B7-5A91-4449-8D78-8C48E18B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B142D-775D-44CA-9DB5-000545D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.NET backend developer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29531-5BE8-4AE8-8B5F-88794C02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C91EF-D078-449E-9969-0ADBBA0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765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4-8 years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F8EF8-1B67-49BF-B9EF-70D59B9E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3F1C5-5D71-483C-BB25-0FB220B3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Full-time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62A74-4270-4E86-BC3E-D8E278A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7B214-64BE-4F4E-806D-623501F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Blazor / frontend developer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1C5EC-78DF-4C04-A0C9-86A6190F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80FD0-998D-41CE-93C6-47B2610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71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4-8 years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BD5DF-AE88-442F-95FB-D46EDFE8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7C4B9-7276-49A2-89A1-68C64D65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718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Full-time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B24E9-7E85-4993-A17D-2570C69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E1D1B-A9F8-4F68-8B52-1699138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QA / UAT engineer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ACE25-B720-4F8B-A3F6-9CDF6A3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19886-BFFB-4DB1-BEFC-4FB3A88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671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3-6 years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B1947-E492-4828-9413-E55AA2FE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90C75-5E00-49BE-BCDF-EF6C6467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Full-time before launch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4766B-0830-4292-AA56-0DAED09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7E3AC4-B480-4FFA-B0C6-C505E341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DevOps / cloud engineer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085FD-B077-4E5F-9FBF-AA124C03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B973C7-010E-469F-B736-20006E1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624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5+ years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A33E9C-D917-4C44-913D-60DC4AA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525CCB-BAC1-4F9F-940A-1FC59FBF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624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Part-time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8C49D-C70C-4583-B621-529156B7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4F9ACF-1743-429C-8F10-86AD550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ERP consultant / business analyst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0440E-2041-4C4F-A8F0-1CED354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4FFECA-AF70-4965-8FB5-AA82235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57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7+ years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EB4F78-29D5-4759-A3F1-7CC2375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85ACB4-67F2-4167-B195-07F734FA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Part-time / consultant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8DAE7E-D530-4867-BFFA-43B8C3EC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64A1EB-7DB6-4EAC-84CE-5D54895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Implementation and support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67E52E-E032-4F4B-B9CE-11A6E1F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67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1A29DB-ECC6-454C-B768-095FD8FF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530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2-5 years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A3FC12-40F1-45E2-8B05-0CB81DC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358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C7D4FD-0689-4E69-803D-53A78B2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530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Needed with first customers</a:t>
            </a:r>
          </a:p>
        </p:txBody>
      </p:sp>
    </p:spTree>
    <p:extLst>
      <p:ext uri="{BB962C8B-B14F-4D97-AF65-F5344CB8AC3E}">
        <p14:creationId xmlns:p14="http://schemas.microsoft.com/office/powerpoint/2010/main" val="7413411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83FA00-0D04-4DD8-95B8-3FA2E3E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Commercialization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8FDE9-77FF-4C4C-9B87-BE036F33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Six-month estimates in SAR, excluding founder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6C546-346E-4A93-B9FB-AF349F0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08626-4D93-4D1B-A13D-825E094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349D0-03A1-4DD0-B4B3-F20C689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5533A-36DC-4212-84BB-57DB7EB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1BD64-9A10-4911-B402-5D452BB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280k-470k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6EE81-C409-415E-90CC-408BA63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SAR - lean mixed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46297-8232-4742-A732-AF8698A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73055-3442-45BD-8FAD-F5E8E43E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560k-1.03M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1957A-8EBF-4853-B4C6-5F311140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SAR - professional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390B2-C1B9-4443-860F-3589DE5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20BF8-F926-496E-AB4D-BCE2A41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1.13M-1.88M+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11F94-9F31-46A4-A9FF-10DC2F6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SAR - aggressive SaaS-ready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ECB4D-82C1-4ECA-B6BC-3E448816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All figures are planning estimates in Saudi Riyals, not contractual quotes.</a:t>
            </a:r>
          </a:p>
        </p:txBody>
      </p:sp>
    </p:spTree>
    <p:extLst>
      <p:ext uri="{BB962C8B-B14F-4D97-AF65-F5344CB8AC3E}">
        <p14:creationId xmlns:p14="http://schemas.microsoft.com/office/powerpoint/2010/main" val="15245591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4B501-BADC-42BA-A339-081D36C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Hosting Cost for 10 Companies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C7957-1705-45F3-84A3-403F20F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Planning ranges, not fixed quotes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8C56-E5EE-43F6-BF48-955E83C7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FBA4E-7275-405F-90FA-EC37430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70B17-0F12-4843-BD29-AD7C941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678EF-8BEA-4685-BD2E-9B981DF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E03A2-944E-4637-852D-BCBC9F1D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E0F8-D545-4474-8FC0-A3D68BA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919BC-DA41-477B-935A-5C7971D6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Expected monthly infra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4287E-B09A-4F51-8C96-469B8994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4752B-63D9-4E08-AA23-E4B61CCA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Practical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6F5AD-B85B-475F-A9BD-94443FCB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5C747-1835-4BF2-BEA6-A9750774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6C8F6-F627-471A-93B5-B9685EA7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4A7D-89B5-4FCE-81AA-4DD10894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574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0 direct to 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70B60-0897-42A5-8708-3EE76698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519E1-F15E-460A-A686-AF423CD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574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Good early option, harder to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8F5C1-33A0-44CE-90BE-C3915EAF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EA70D-93A0-4E28-930F-C0B2E2C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SmarterASP shared / semi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D8633-E998-4997-BCB1-F3D3AAE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84F1D-15AB-4341-AD81-FD4BAC4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28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300-1,125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EFED6-C224-4B8B-A43F-AF722820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1DED7-7BBF-433D-A40A-E5961A9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289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Cheap for demos and small customers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0DFBC-117A-494D-8A05-69B446F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64110-357F-424F-970A-0ECBB40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SmarterASP VPS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640ED-BA9C-4CF2-A28F-1556B5E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C61BA-B561-4185-AC60-5D885C54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004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750-3,000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20350-6765-46C9-A1C7-3215804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8C625-0C77-48C3-9C6C-48602442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004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Practical option for first customers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5B327-823D-413D-950A-4FF75175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E598D-C28F-4CB8-AF3D-F68D880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Azure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B55D4-BCF2-4660-949B-F981A3FC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862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6E75AD-EBA0-41A0-A2E6-2470766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71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2,625-9,375+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C0363-87CA-4FB0-AA8D-A152465E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501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1CE1E-ABD9-4EFD-876D-7F7D906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credibility and scaling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CA677D-5E96-4739-A3EB-290119AC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public SmarterASP and Azure pricing pages. Azure is treated here as a budgeting range, not a binding quote.</a:t>
            </a:r>
          </a:p>
        </p:txBody>
      </p:sp>
    </p:spTree>
    <p:extLst>
      <p:ext uri="{BB962C8B-B14F-4D97-AF65-F5344CB8AC3E}">
        <p14:creationId xmlns:p14="http://schemas.microsoft.com/office/powerpoint/2010/main" val="154809378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1263D-A224-4263-9BB6-7733C8A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Saudi Revenue 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CA86B-112F-4F69-866F-8D7C96AC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Monthly subscription plus setup fees for Saudi SMEs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C7F9C-D4BC-4610-BA61-57C4B499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D3208-2C99-4041-9B6F-DAB4CF2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2F721-6F41-41C0-B470-DD35C01C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C64AC-2493-45EA-A22E-C939EEC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66C39-3078-4BBE-AB56-4F3C7F55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AC88E-A841-4456-8215-F26282E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96063-88A4-4D90-AC6A-115F2A5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Monthly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A8C76-0347-4E2C-ADC7-36083F72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1F2FF-A106-4A6A-B480-27A058F6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Annual recurring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8213-C15A-40A4-A4F5-AD37AF9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CC0D0-6F0C-465F-BE89-F55C909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Setup fees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AD906-9983-4AD3-9C68-F2950C3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8581-F3BE-4E0D-93FA-9C388F2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First-year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3F527-6F05-4E35-BAD4-72FC18A7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4BCDA-ADD5-4B52-AB38-629E206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Conservative - 10 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2943A-E739-4DC1-9719-E74A24C2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D372C-6C87-4FDC-8F09-BE63E193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8DD1D-87CA-4C2E-A28B-A9BBA615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146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66762-CBCA-4DE1-BAAB-D718278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003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180k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CD902-321E-4740-849A-6560396C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14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99DC5-63A9-47F3-AF65-349BCA1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0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120k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12C68-B454-4084-9AA0-AD54AF50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B824A-C235-4428-8019-1C44054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03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300k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34001-DA89-4889-A3ED-E6ABE04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45BBC-312B-482C-9D49-88953C5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Base - 10 companies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87EFA-39AF-4D25-89A7-CF68FBE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6A719-6407-4526-A295-C63148CC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14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35k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DDFAF-E0B6-47B2-B6C2-92695648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F09436-DE30-420D-B3CD-349A6BA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146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420k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C6572E-69DD-40B6-BFEB-612D25E6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57C6A-40E9-40C8-A3B3-C34382B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14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250k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52A2D5-006F-4F0D-BC89-DA4CCD6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F59742-C1E9-485A-B09B-3D5AF4F6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146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670k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AA70A7-0490-43DD-993B-D05E752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563825-7F6D-4F4E-ABE3-95F30281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Strong - 10 companies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C660E-C52D-4039-9513-2B3755F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43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D54EC8-9B8E-4057-93AA-70FEB53B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29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75k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8BCF4-B3A7-4CBE-9EF8-06850D9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433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B4C9D3-2F8A-418B-9C22-B3017F9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29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900k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BDF607-E501-4A8A-A99D-C718A6B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54510C-9A92-486D-B2C4-209D351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600k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7689DE-C066-4344-9B41-7823A77B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43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248BBF-5D52-469D-B14D-7CA1ED5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290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1.5M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5B2A5D-4308-4A51-8086-D109707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0587C1-E251-4235-8EE6-A9A9ADD1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C23962-3C73-482E-B08C-5E4ECF0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E0EDC8-82B6-4226-9414-892BCC4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Conservative ARR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1A067F-2BBB-4E27-9AE5-A46EC47C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49E936-3D49-4E3F-BB54-83DED2A5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 ARR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E5AD92-FCEF-4A91-BC45-CC8C7A7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8809DA-FC06-4055-9428-E1609822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Strong ARR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2696EA-C592-4731-8105-9BA8285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2AAC2E-245F-4390-AA2F-85206E73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D4A8DD-C9DB-405E-AEBD-0DA133A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6BC739-A8BB-4156-8385-5E5CADB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450k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F677B2-63AC-4750-93AE-5A57DCFA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C8A213-BEB3-4358-B48B-2438A6FB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1.05M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E4FFE3-8D98-48BC-A0F9-A614053B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C21A6F-4855-4847-95E1-2A5DE830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2.25M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8503FC-B1DB-4FFF-A0A7-9780A947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7E8A20-8C9F-4A4A-B042-A626DCC3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73C637-2473-4ED5-AA9D-F053B86D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A73B88-2D45-4941-8356-4B37F3F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900k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725183-38CE-471A-B668-5B1A2A6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2B07AC-D908-4233-AD0F-CAEC419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2.1M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6BC907-82B7-4DBC-9FF2-BDE2CAF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73D017-E3AE-4A1F-A3DC-83A0185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4.5M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0924D9-EFA6-4BC5-B34A-71361685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503728-EC60-4456-A656-DF206EA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475D73-BF0B-40C4-AD5D-ED76F2A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51721D-5497-4966-BE63-6A27817C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1.8M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24F618-EECC-422D-91E9-AE2E3FD6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A21F67-54B6-4C79-B0B7-4C65F1FD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4.2M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180922-05D0-44A2-B842-4C70BBE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0FEE1E-CEB9-4B15-92CA-CF38650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9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SAR 9M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2027F1-79CD-4D38-9047-BC95311E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Assumption: Saudi SME customers with 20-100 employees, subscription packages plus separate implementation fees.</a:t>
            </a:r>
          </a:p>
        </p:txBody>
      </p:sp>
    </p:spTree>
    <p:extLst>
      <p:ext uri="{BB962C8B-B14F-4D97-AF65-F5344CB8AC3E}">
        <p14:creationId xmlns:p14="http://schemas.microsoft.com/office/powerpoint/2010/main" val="55990996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25782-CFCD-4BCF-8E20-C7A54F8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Build Effort And Replacement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388F9-2215-4904-B5BA-0436F022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Estimated team, duration, and cost to build a comparable ERP from scratch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2E765-2F20-4B8E-8ACF-1794A5F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333EB-4CEE-4D47-A068-D6703FE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3856D-8CD2-4D9C-9D98-0769F75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3F124-B3AF-43B5-BE93-9555A4C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46378-F316-463C-9159-6B9463C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18-30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B795F-C323-44B4-BA39-9C38A29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months to a marketable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FFFB1-25D5-4F6B-A197-B551D27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C34BD-0E7F-4887-ADAA-2DFB5EB5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7-9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3B4DD-99F7-466F-B4F6-417AF5D9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technical and operating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F60CA-B665-4C06-9F74-D4DCC0D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57197-FB1D-4D13-9D20-25168AEF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2.5M-6M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21B5D-A5E9-4709-85BB-140A6965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337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SAR estimated build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5CC7F-45B1-4F02-9978-77E6B752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BC265-2B9E-4319-BE5B-F1FEBD4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Required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09A67-0DED-4BD7-A7D1-B71D127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5DF33-8FA8-4D3C-B12B-5AA5D895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DBB00-F2CB-4F60-8666-5A1EAD0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97D16-4473-4786-8FB6-3D4930BD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71C33-F07D-4239-97A8-5C7365D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18BC4-8788-4A3E-BB43-DE4C02E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Architect / technical 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582F0-CB41-40F0-B992-7F98F8CB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196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C5010-611F-49C4-99BE-36B93B74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6715F-14D4-435F-905D-A51E94F6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DD8CF-6B78-4DFD-B508-41F7F4A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Architecture, quality, technical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485EE-9B56-422A-81EB-BBE57FAA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25019-1980-494D-BEBA-554646D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24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 + frontend + 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21BD8-BD2D-4F5D-9F61-E8ED7C3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41DA8-3AAB-4CA8-8875-69D983AE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Mid-Senior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2CE351-1D27-4B14-A1FD-8588DD67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387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C7A2D-9E2C-44EF-B9D3-69542F9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244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Modules, UI, test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3C9532-B6C7-4CB6-9790-549108A3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B6E42-BCDD-406E-B714-A21AFBF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DevOps + ERP analyst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19C62-3CF9-4F3D-98C8-D4C2B43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6509B5-FC56-4314-8513-3709861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435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Senior/Consultant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1A2F5-4DB1-43CD-89D0-20F7E279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57800"/>
            <a:ext cx="453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6A9202-4965-4476-A80F-E338A1E4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435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Deployment, requirements, workflows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DE50A-08F6-4B99-B676-D4E1F01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cost increases if built through a full agency or with enterprise-grade QA from day one.</a:t>
            </a:r>
          </a:p>
        </p:txBody>
      </p:sp>
    </p:spTree>
    <p:extLst>
      <p:ext uri="{BB962C8B-B14F-4D97-AF65-F5344CB8AC3E}">
        <p14:creationId xmlns:p14="http://schemas.microsoft.com/office/powerpoint/2010/main" val="171519544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BF4ED-844A-457E-A119-FB168DC4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Recommended Go-To-Market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6D0E-532C-42C9-B89F-69221876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Start focused, prove value, then scale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F6CD-37E6-40EA-9B90-A0A5A56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2B858-DE92-4162-88FA-75428ED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74FD-AE6F-40FC-B034-3F25D1C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3E0AC-9DCA-43A6-A39C-67D83D1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406D1-3BD4-4E4F-B9F4-FDDD910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 Managed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29575-E628-46B4-AFBC-6D82B8B2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One or two companies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Prepared demo data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Direct support from the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BEA58-DBB9-4DAC-8DCA-AD29516E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509D9-F4AD-4307-915D-CDC00EA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 Practical hosting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A348E-723F-4160-BE27-D248BBF4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VPS or Azure depending on customer profile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Backup and monitoring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Deployment and operations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D0E69-CC86-4678-BB73-34A8305A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C8899-49F4-4745-8AFF-100D6885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 Scale to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13A94-7753-4F36-9463-A8894F44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2686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Repeatable onboarding templates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Clear pricing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Implementation and support team</a:t>
            </a:r>
          </a:p>
        </p:txBody>
      </p:sp>
    </p:spTree>
    <p:extLst>
      <p:ext uri="{BB962C8B-B14F-4D97-AF65-F5344CB8AC3E}">
        <p14:creationId xmlns:p14="http://schemas.microsoft.com/office/powerpoint/2010/main" val="210514392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F4E77-B854-4E23-BACD-297F7B1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Partnership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43F0B-5B36-4C61-A73D-ECAD4798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Funding is for commercialization, not idea-stage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DA17C-C61D-44C6-95CF-E7EB5DF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CCF49-ED36-4E76-82AC-11813D6D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32A86-B36F-4472-8230-089CF7A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9602F-E9B2-4CB6-ABD8-BC7DEBA1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37B46-8DF8-47A0-832A-ECFE3190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A7ACB-9441-45EC-AF49-ACF67E2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QA and critical-path stabilization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Deployment and hosting readiness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User documentation and training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Support and implementation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07A3B-F327-4566-AAB7-E52BAD2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C2CDC-C0D3-42EC-AB01-2C1184C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Investor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728C0-BB6E-48CD-819C-4F13522A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technical asset already exists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Risk has shifted from build risk to go-to-market risk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first 10 customers can validate the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F252A-88BC-4592-AA35-AFC6321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5F955-5847-43F8-816B-D13593A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8D176-98AD-46CC-B9EF-510E17E5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876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Sellable product package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Real customer use cases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Repeatable hosting and pricing model</a:t>
            </a:r>
          </a:p>
        </p:txBody>
      </p:sp>
    </p:spTree>
    <p:extLst>
      <p:ext uri="{BB962C8B-B14F-4D97-AF65-F5344CB8AC3E}">
        <p14:creationId xmlns:p14="http://schemas.microsoft.com/office/powerpoint/2010/main" val="11075805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645FE-88CB-4AED-B006-5AA61741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Closing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AC6B3-3136-4F0F-AD24-E30210AB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is an existing technical asset that needs commercialization funding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084D4-5E5A-4AFE-B87B-CEFBCCF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DFFB0-DA99-46F9-B307-9AAFD454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AlAfkar ERP | Partnership and Investment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4C191-BE52-4A94-A49C-A7D82858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EFCDD-DA2D-4892-AB83-85B3E4F2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F7A5A"/>
                </a:solidFill>
                <a:latin typeface="Helvetica Neue"/>
                <a:ea typeface="Helvetica Neue"/>
                <a:cs typeface="Helvetica Neue"/>
              </a:rPr>
              <a:t>Investor message: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D7BD0-E3E0-4820-A0F0-0C1A8A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 are not asking for funding to build an ERP from zero.</a:t>
            </a:r>
          </a:p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We are seeking partnership to turn an already-built ERP into a market-ready product with QA, operations, hosting, documentation, and the first 10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75973-BCE5-439F-AE5E-0AFBC14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local repository inspection, solution build result, UAT package, SmarterASP pages, and Azure pricing pages.</a:t>
            </a:r>
          </a:p>
        </p:txBody>
      </p:sp>
    </p:spTree>
    <p:extLst>
      <p:ext uri="{BB962C8B-B14F-4D97-AF65-F5344CB8AC3E}">
        <p14:creationId xmlns:p14="http://schemas.microsoft.com/office/powerpoint/2010/main" val="154443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2026-06-25T09:41:58.2010000Z</dcterms:created>
  <dcterms:modified xsi:type="dcterms:W3CDTF">2026-06-25T09:41:58.2010000Z</dcterms:modified>
</coreProperties>
</file>