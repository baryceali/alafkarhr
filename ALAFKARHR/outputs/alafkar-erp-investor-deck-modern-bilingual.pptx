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19a36104874136" /><Relationship Type="http://schemas.openxmlformats.org/officeDocument/2006/relationships/extended-properties" Target="/docProps/app.xml" Id="Rb9ed9c2d9b9f4e00" /><Relationship Type="http://schemas.openxmlformats.org/officeDocument/2006/relationships/officeDocument" Target="/ppt/presentation.xml" Id="R6bb04f5a67fc4f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a1bc5d6bec4100"/>
  </p:sldMasterIdLst>
  <p:notesMasterIdLst>
    <p:notesMasterId xmlns:r="http://schemas.openxmlformats.org/officeDocument/2006/relationships" r:id="Re0d59269ab9b4851"/>
  </p:notesMasterIdLst>
  <p:sldIdLst>
    <p:sldId xmlns:r="http://schemas.openxmlformats.org/officeDocument/2006/relationships" id="256" r:id="R48db7f40a6b84c3c"/>
    <p:sldId xmlns:r="http://schemas.openxmlformats.org/officeDocument/2006/relationships" id="257" r:id="R662034d03f2c47cd"/>
    <p:sldId xmlns:r="http://schemas.openxmlformats.org/officeDocument/2006/relationships" id="258" r:id="R1d4ab0b6ab0a4a34"/>
    <p:sldId xmlns:r="http://schemas.openxmlformats.org/officeDocument/2006/relationships" id="259" r:id="R7bcf460ede9c4ca0"/>
    <p:sldId xmlns:r="http://schemas.openxmlformats.org/officeDocument/2006/relationships" id="260" r:id="R0039ab279b054d0d"/>
    <p:sldId xmlns:r="http://schemas.openxmlformats.org/officeDocument/2006/relationships" id="261" r:id="Rc6e7907ea4d74867"/>
    <p:sldId xmlns:r="http://schemas.openxmlformats.org/officeDocument/2006/relationships" id="262" r:id="R0ea6da15a5014b1d"/>
    <p:sldId xmlns:r="http://schemas.openxmlformats.org/officeDocument/2006/relationships" id="263" r:id="Rd3590e257e1a4fbb"/>
    <p:sldId xmlns:r="http://schemas.openxmlformats.org/officeDocument/2006/relationships" id="264" r:id="R1afd9f1c939b4094"/>
    <p:sldId xmlns:r="http://schemas.openxmlformats.org/officeDocument/2006/relationships" id="265" r:id="R7f36df474d8f493a"/>
    <p:sldId xmlns:r="http://schemas.openxmlformats.org/officeDocument/2006/relationships" id="266" r:id="R60e714f675414926"/>
    <p:sldId xmlns:r="http://schemas.openxmlformats.org/officeDocument/2006/relationships" id="267" r:id="Ra74d3cf805fd4998"/>
    <p:sldId xmlns:r="http://schemas.openxmlformats.org/officeDocument/2006/relationships" id="268" r:id="Rc20b493b80634e88"/>
    <p:sldId xmlns:r="http://schemas.openxmlformats.org/officeDocument/2006/relationships" id="269" r:id="Rfa8d7a04364f47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be8d54c70442ae" /><Relationship Type="http://schemas.openxmlformats.org/officeDocument/2006/relationships/slideMaster" Target="/ppt/slideMasters/slideMaster1.xml" Id="R39a1bc5d6bec4100" /><Relationship Type="http://schemas.openxmlformats.org/officeDocument/2006/relationships/notesMaster" Target="/ppt/notesMasters/notesMaster1.xml" Id="Re0d59269ab9b4851" /><Relationship Type="http://schemas.openxmlformats.org/officeDocument/2006/relationships/presProps" Target="/ppt/presProps.xml" Id="R5c9a1aaca7b34d79" /><Relationship Type="http://schemas.openxmlformats.org/officeDocument/2006/relationships/tableStyles" Target="/ppt/tableStyles.xml" Id="Rc1971f00ba0e4bb0" /><Relationship Type="http://schemas.openxmlformats.org/officeDocument/2006/relationships/slide" Target="/ppt/slides/slide1.xml" Id="R48db7f40a6b84c3c" /><Relationship Type="http://schemas.openxmlformats.org/officeDocument/2006/relationships/slide" Target="/ppt/slides/slide2.xml" Id="R662034d03f2c47cd" /><Relationship Type="http://schemas.openxmlformats.org/officeDocument/2006/relationships/slide" Target="/ppt/slides/slide3.xml" Id="R1d4ab0b6ab0a4a34" /><Relationship Type="http://schemas.openxmlformats.org/officeDocument/2006/relationships/slide" Target="/ppt/slides/slide4.xml" Id="R7bcf460ede9c4ca0" /><Relationship Type="http://schemas.openxmlformats.org/officeDocument/2006/relationships/slide" Target="/ppt/slides/slide5.xml" Id="R0039ab279b054d0d" /><Relationship Type="http://schemas.openxmlformats.org/officeDocument/2006/relationships/slide" Target="/ppt/slides/slide6.xml" Id="Rc6e7907ea4d74867" /><Relationship Type="http://schemas.openxmlformats.org/officeDocument/2006/relationships/slide" Target="/ppt/slides/slide7.xml" Id="R0ea6da15a5014b1d" /><Relationship Type="http://schemas.openxmlformats.org/officeDocument/2006/relationships/slide" Target="/ppt/slides/slide8.xml" Id="Rd3590e257e1a4fbb" /><Relationship Type="http://schemas.openxmlformats.org/officeDocument/2006/relationships/slide" Target="/ppt/slides/slide9.xml" Id="R1afd9f1c939b4094" /><Relationship Type="http://schemas.openxmlformats.org/officeDocument/2006/relationships/slide" Target="/ppt/slides/slide10.xml" Id="R7f36df474d8f493a" /><Relationship Type="http://schemas.openxmlformats.org/officeDocument/2006/relationships/slide" Target="/ppt/slides/slide11.xml" Id="R60e714f675414926" /><Relationship Type="http://schemas.openxmlformats.org/officeDocument/2006/relationships/slide" Target="/ppt/slides/slide12.xml" Id="Ra74d3cf805fd4998" /><Relationship Type="http://schemas.openxmlformats.org/officeDocument/2006/relationships/slide" Target="/ppt/slides/slide13.xml" Id="Rc20b493b80634e88" /><Relationship Type="http://schemas.openxmlformats.org/officeDocument/2006/relationships/slide" Target="/ppt/slides/slide14.xml" Id="Rfa8d7a04364f47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d69be3a75240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4c87cc8274829" /><Relationship Type="http://schemas.openxmlformats.org/officeDocument/2006/relationships/notesMaster" Target="/ppt/notesMasters/notesMaster1.xml" Id="R0e6941ab37ea49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2e00a660c34602" /><Relationship Type="http://schemas.openxmlformats.org/officeDocument/2006/relationships/notesMaster" Target="/ppt/notesMasters/notesMaster1.xml" Id="R93d8fe294ed446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4d8f33a2a041ee" /><Relationship Type="http://schemas.openxmlformats.org/officeDocument/2006/relationships/notesMaster" Target="/ppt/notesMasters/notesMaster1.xml" Id="Rf26166e2ac80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12000f2f864c09" /><Relationship Type="http://schemas.openxmlformats.org/officeDocument/2006/relationships/notesMaster" Target="/ppt/notesMasters/notesMaster1.xml" Id="R5f29c80ece1f4f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9173b960644245" /><Relationship Type="http://schemas.openxmlformats.org/officeDocument/2006/relationships/notesMaster" Target="/ppt/notesMasters/notesMaster1.xml" Id="Rfdffdfb787bd4a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ca4855da0942cc" /><Relationship Type="http://schemas.openxmlformats.org/officeDocument/2006/relationships/notesMaster" Target="/ppt/notesMasters/notesMaster1.xml" Id="Rd3ab268aa2b943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da20edba124496" /><Relationship Type="http://schemas.openxmlformats.org/officeDocument/2006/relationships/notesMaster" Target="/ppt/notesMasters/notesMaster1.xml" Id="R1dd1efdf08dc40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9162bb9dc04a26" /><Relationship Type="http://schemas.openxmlformats.org/officeDocument/2006/relationships/notesMaster" Target="/ppt/notesMasters/notesMaster1.xml" Id="Rd15f3d1b17e149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8346c0efe741c0" /><Relationship Type="http://schemas.openxmlformats.org/officeDocument/2006/relationships/notesMaster" Target="/ppt/notesMasters/notesMaster1.xml" Id="R9ac2608832fc40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99b9f6b78c4602" /><Relationship Type="http://schemas.openxmlformats.org/officeDocument/2006/relationships/notesMaster" Target="/ppt/notesMasters/notesMaster1.xml" Id="Rcb2ee7c0eac04f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371928b4704ecb" /><Relationship Type="http://schemas.openxmlformats.org/officeDocument/2006/relationships/notesMaster" Target="/ppt/notesMasters/notesMaster1.xml" Id="Rb573ae2a655c4d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53e3cd4542441e" /><Relationship Type="http://schemas.openxmlformats.org/officeDocument/2006/relationships/notesMaster" Target="/ppt/notesMasters/notesMaster1.xml" Id="R74b58caa3fde49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8598386a0d49ef" /><Relationship Type="http://schemas.openxmlformats.org/officeDocument/2006/relationships/notesMaster" Target="/ppt/notesMasters/notesMaster1.xml" Id="R6dc4a40d30f44a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c3aa371ac448b6" /><Relationship Type="http://schemas.openxmlformats.org/officeDocument/2006/relationships/notesMaster" Target="/ppt/notesMasters/notesMaster1.xml" Id="Rabcee330549f4b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941eb354149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768232f6174734" /><Relationship Type="http://schemas.openxmlformats.org/officeDocument/2006/relationships/slideLayout" Target="/ppt/slideLayouts/slideLayout1.xml" Id="Rfdc127f1201149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127f1201149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df6685b3442f3" /><Relationship Type="http://schemas.openxmlformats.org/officeDocument/2006/relationships/image" Target="/ppt/media/image.png" Id="Ra8a2abf29ea9423a" /><Relationship Type="http://schemas.openxmlformats.org/officeDocument/2006/relationships/notesSlide" Target="/ppt/notesSlides/notesSlide1.xml" Id="R62316ac256cb43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cf4893d9747ca" /><Relationship Type="http://schemas.openxmlformats.org/officeDocument/2006/relationships/notesSlide" Target="/ppt/notesSlides/notesSlide2.xml" Id="R33781f9de44e45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797a650c04d7a" /><Relationship Type="http://schemas.openxmlformats.org/officeDocument/2006/relationships/image" Target="/ppt/media/image2.png" Id="R290ff8a0f6e248b8" /><Relationship Type="http://schemas.openxmlformats.org/officeDocument/2006/relationships/notesSlide" Target="/ppt/notesSlides/notesSlide3.xml" Id="R0688f8318985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11ac7b5934748" /><Relationship Type="http://schemas.openxmlformats.org/officeDocument/2006/relationships/notesSlide" Target="/ppt/notesSlides/notesSlide4.xml" Id="R1de29d7180854a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ed3abd73b4f22" /><Relationship Type="http://schemas.openxmlformats.org/officeDocument/2006/relationships/notesSlide" Target="/ppt/notesSlides/notesSlide5.xml" Id="R55beee8a3503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c1066895f4a42" /><Relationship Type="http://schemas.openxmlformats.org/officeDocument/2006/relationships/notesSlide" Target="/ppt/notesSlides/notesSlide6.xml" Id="Rfb42c32d58bd42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b63d229024563" /><Relationship Type="http://schemas.openxmlformats.org/officeDocument/2006/relationships/notesSlide" Target="/ppt/notesSlides/notesSlide7.xml" Id="Rb96fafb682e341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4b0d7d5db4473" /><Relationship Type="http://schemas.openxmlformats.org/officeDocument/2006/relationships/notesSlide" Target="/ppt/notesSlides/notesSlide8.xml" Id="Ra72ca51ab0e348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6a36ac44b4cae" /><Relationship Type="http://schemas.openxmlformats.org/officeDocument/2006/relationships/notesSlide" Target="/ppt/notesSlides/notesSlide9.xml" Id="Rf6d90a701cf146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9d6fc72044961" /><Relationship Type="http://schemas.openxmlformats.org/officeDocument/2006/relationships/notesSlide" Target="/ppt/notesSlides/notesSlide10.xml" Id="Rcf14771791ce42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077ee3add4596" /><Relationship Type="http://schemas.openxmlformats.org/officeDocument/2006/relationships/notesSlide" Target="/ppt/notesSlides/notesSlide11.xml" Id="Rffd68dc7237548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e038965dd4801" /><Relationship Type="http://schemas.openxmlformats.org/officeDocument/2006/relationships/notesSlide" Target="/ppt/notesSlides/notesSlide12.xml" Id="R9d5186e5f3fb46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751dbc5134f5b" /><Relationship Type="http://schemas.openxmlformats.org/officeDocument/2006/relationships/notesSlide" Target="/ppt/notesSlides/notesSlide13.xml" Id="R54e9c8f909a94e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41bc519284171" /><Relationship Type="http://schemas.openxmlformats.org/officeDocument/2006/relationships/image" Target="/ppt/media/image3.png" Id="R712b43f81ba74964" /><Relationship Type="http://schemas.openxmlformats.org/officeDocument/2006/relationships/notesSlide" Target="/ppt/notesSlides/notesSlide14.xml" Id="R13c8517ed5f247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C9FDC-48D1-470D-9241-3393F353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9496B-A1FE-4CDA-B978-A629614D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2abf29ea9423a"/>
          <a:srcRect xmlns:a="http://schemas.openxmlformats.org/drawingml/2006/main" l="0" t="22955" r="0" b="22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1375" y="666750"/>
            <a:ext cx="4238625" cy="4762500"/>
          </a:xfrm>
          <a:prstGeom xmlns:a="http://schemas.openxmlformats.org/drawingml/2006/main" prst="roundRect">
            <a:avLst>
              <a:gd name="adj" fmla="val 269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3176F-B2EE-46BA-82EC-EBB0E89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D6B1F-427B-47EA-800F-9647A5F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AlAfkar ERP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05004-1D71-47DA-A57E-D3EDB0CD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FEDE8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BFEDE8"/>
                </a:solidFill>
                <a:latin typeface="Aptos"/>
                <a:ea typeface="Aptos"/>
                <a:cs typeface="Aptos"/>
              </a:rPr>
              <a:t>Investor partnership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F4821-3CE2-4C6B-B4F6-5B2DE5C3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عرض شراكة واستثمار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BAE46-C24D-4138-8544-81EB45A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AF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AF5"/>
                </a:solidFill>
                <a:latin typeface="Aptos"/>
                <a:ea typeface="Aptos"/>
                <a:cs typeface="Aptos"/>
              </a:rPr>
              <a:t>Commercializing an already-built ERP platform for the Saudi SME market.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5661B-3AD3-4908-84E9-88FA49C1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CEA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AF5"/>
                </a:solidFill>
                <a:latin typeface="Arial"/>
                <a:ea typeface="Arial"/>
                <a:cs typeface="Arial"/>
              </a:rPr>
              <a:t>منصة قائمة تحتاج تمويلا للتجهيز التجاري، الاختبار، النشر، وأول العملاء.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AF516-9504-4939-94F6-5749F906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E58FE-4903-4AE1-9804-A449644B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0097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F71CD-7BC3-44AF-A347-540887B3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4191E-3000-4A00-9DAF-9A4FA9FA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Investment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C6285-D712-4204-AF52-54DA6FF3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ملخص الفرصة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EF018-E59B-4D7C-A463-4A9EDB0C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B2E67-87CB-4C93-AAA7-CBF5E4A6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D903C-E809-4656-97D5-FC9CA81D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40987-E70B-4394-A9F3-541160C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8610A-9F4B-4600-A51B-A4E0E107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A93BF-ADEA-4200-8A30-CFCBA5A9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Existing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3F19A-B515-478D-AC4D-11015B4F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منتج قائم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A1B85-DDB4-494D-823B-6539704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32 modules, 181 backend endpoint files, 290 Razor/UI files, and a clean full build.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B8513-3719-404D-A2A3-A88E614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النظام ليس فكرة أولية؛ يوجد أصل تقني كبير قابل للتسويق.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9DFEB-98B4-4BD1-9D9D-68D83914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F1AE4-0DF4-4759-9AE4-96F7AEDE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F9A9C-2D39-42A3-93A5-DD2F2043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812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Commercial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421EE-9FA1-42DC-8B1F-97613D13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050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فجوة تجارية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7C700-93A8-48A9-91F5-68A5DDC0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6702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next need is packaging: QA, hosting, onboarding, documentation, and support.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621C8-C636-45E6-A787-1E42E4A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9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التمويل المطلوب لتحويل المنتج إلى عرض تجاري جاهز للبيع.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57834-6058-43E4-A76F-1DE9659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CD1E14-EECE-4309-AD0A-CB1E9F58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106BC-F660-45DE-8E88-A660E1B8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812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Saudi SME entry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53EF0-3365-44C3-8A42-100BA1E5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050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دخول السوق السعودي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5ABEB-35CE-427C-8F43-A32C8151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6702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Start with controlled SME pilots, then scale to 10, 50, and 100 customers.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FA9D7-1C9F-474A-93DF-49CD2847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9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التركيز الأول على الشركات السعودية الصغيرة والمتوسطة.</a:t>
            </a:r>
          </a:p>
        </p:txBody>
      </p:sp>
    </p:spTree>
    <p:extLst>
      <p:ext uri="{BB962C8B-B14F-4D97-AF65-F5344CB8AC3E}">
        <p14:creationId xmlns:p14="http://schemas.microsoft.com/office/powerpoint/2010/main" val="15780825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6CBE9-978B-44CD-ADCA-22870407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DAC41-7056-4F53-BA9A-9E5C0177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Product Footprint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BB938-AA45-4D6E-B098-FAFE4F01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حجم المنتج الحالي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19C46-D536-4894-B80B-3E1F6CCC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3E770-DF4A-4E31-B0D2-47837E56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12884-78CE-4A01-8B61-DDE2555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F22A3-102B-41D3-BBA6-6484C643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33380-20AF-4AB8-B6E0-B7584534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21DB8-8EA7-448A-9EE8-B8008139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098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F1A43-5CD8-4AA9-AAB2-0DBC43D1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24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906CD-4AB0-458D-95F8-03844FE4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وحدة أعمال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4F7B2-3AF0-4EEE-AE99-F938C3DA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0025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779FD-6A4E-4E67-BF98-91BAA29C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002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43581-B8F0-42B7-8C4D-FF960BF2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098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95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95C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4EFC3-F76D-42A3-9A22-E38B0579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24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.NET 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C7D14-D1EA-45B4-9A73-A133F5C2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52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مشروع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BD0FF-DA75-4C4F-AD51-6B4731F0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64226-CC3A-4BF0-813A-38759076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FD2AD-DB4C-446E-A677-B9295A01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098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181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4127F-C200-48AC-9032-B7275C68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24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Endpoints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3114E-FCD4-445E-AF72-91FF6793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52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ملف Endpoint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5FE846-67AB-4E5C-879D-D891351B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7DBE6-D247-45FF-840D-B99BFCC8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77F47-A86C-458C-8745-CCCFC491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098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6B4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6B4F"/>
                </a:solidFill>
                <a:latin typeface="Aptos"/>
                <a:ea typeface="Aptos"/>
                <a:cs typeface="Aptos"/>
              </a:rPr>
              <a:t>290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5898E5-83E4-4BC4-A761-43819AE1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24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UI 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52A473-2A70-47B9-A58C-217CF2FC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952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ملفات واجهة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5663E-1D0B-4F9C-B06E-2FDD0B77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FD62C-F733-4E3A-9768-E36FF35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B2941-CAD7-4143-B5BF-241337E0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098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263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B48B59-4B09-4F89-BFF5-DD03BEF7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24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UAT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D273D-AFE3-4266-838D-D5F2BF4F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52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وظائف UAT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DFB82-D08C-479E-ADAD-C21FFB61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00250"/>
            <a:ext cx="1714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69FAC8-FADE-4442-9784-685C334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002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09C504-D1E2-4421-A033-BDB28B8C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2098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95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95C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D3B9F-5C7B-4ECB-B29B-40A668D8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724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UI routes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70A602-DD4F-40A8-B5D4-D3CA6D1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952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مسارات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65C1E0-1251-4B3E-8C16-C1D15535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Roughly 193k C# lines and 81k Razor lines. This is a serious ERP asset, not a screen mockup.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DB70D-F59A-4015-8E1D-D81182E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حجم الكود والمسارات يؤكد أن المنتج أصل تقني قائم وليس مجرد نموذج عرض.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ff8a0f6e248b8"/>
          <a:srcRect xmlns:a="http://schemas.openxmlformats.org/drawingml/2006/main" l="0" t="28782" r="0" b="28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3952875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</p:spTree>
    <p:extLst>
      <p:ext uri="{BB962C8B-B14F-4D97-AF65-F5344CB8AC3E}">
        <p14:creationId xmlns:p14="http://schemas.microsoft.com/office/powerpoint/2010/main" val="922757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4D267-35F9-44C5-B4F2-0ED99356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DC59E-E67A-4769-9132-11F58C84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ERP Capability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4A314-81E7-4C70-86E6-24437748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خريطة القدرات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EA9E2-7BFA-4B6A-9D0F-1532D2BC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233DC-DF42-4502-997A-870162D4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391C9-7310-44B4-A701-EB147363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F7C69-E070-43A1-AB9A-DB81B34D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143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5A540-9983-45AE-B863-7963AD60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8449F-5D8F-4C3A-A3F0-37398D42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812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90750-8F19-4333-9D3E-56C3BB4F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50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الموارد البشرية والحضور والرواتب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786D7-A1AD-4271-B250-EDA91A1F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HR, attendance, leave, payroll,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2FCB8-E4E3-4D8F-8D0E-8DABB801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765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F1499-3485-4170-BE13-BA270276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3143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00B23-8EF8-4B27-BBD3-635FD9E4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53ABA-F435-454D-9FA8-8C44D76C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812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8C284-FFB0-4AB0-87FC-47302524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الحسابات والمدفوعات والتسعير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47C1C-02DB-4D36-AAAB-52F4D822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Accounting, payments, pricing, contracts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503B7-82D2-45B2-9E42-515D7AF8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765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BA441-6607-4635-BD54-A2C0DC6C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143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11F63-1688-4087-B054-4A03C02B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2ACBF-EF72-418B-87B0-E1356500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812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755B3-4B7C-450B-A251-233CB13C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المخزون والمشتريات والأسطول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76A71-31B1-468F-A1B4-DF3AFA43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6702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Inventory, procurement, fleet, maintenance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A367E-5655-4606-AD72-63BAD17B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93C90-7F7E-4AC0-89AE-CD2BFE3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762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F233C-1D57-4403-9DFE-49105179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A992B2-B511-4C24-9D36-BE1B4D0A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Commercial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7D8DA-1F6E-4FC9-BFD1-D62C4C5F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العملاء والمبيعات ونقاط البيع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AEDA3-60EB-4B2D-B4EA-BF1B7F9B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6247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Customers, sales, POS, storefront, orders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01A0C-E1AD-4025-BD4E-C476D95D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719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271D52-CCD9-4389-A465-6FF4245C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48075"/>
            <a:ext cx="4762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BE8CF0-167E-4110-8EA6-37AE3DD5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48075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07713F-16D5-41D5-B649-039592FA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76675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9B130A-02F0-4DE6-82A9-9A45CBBE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00525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الأمان والتنظيم والمستندات والمهام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317E0C-96A1-4614-9C00-E5C7490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62475"/>
            <a:ext cx="434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Auth, organization, documents, tasks, settings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977001-E521-4A48-A878-EBE16EC0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7197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0915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23E83C-EEA0-4C1B-B591-83A2203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B301F-98EB-4D57-841E-4FC67930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Market Readiness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D01EF-35CF-40C5-9879-25FAD7B8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مسار الجاهزية للسوق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ED4E9-0FED-45DF-9782-E2FCBC00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1B44C-2838-4B82-986B-DDCC26F9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4458-A670-4F73-A1DE-39968679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1EED9-FD02-4DE1-8E08-4E082CB1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333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10F40-F361-4168-BBED-527B1C8B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95C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3C73E-B64D-4F36-9FBD-E7FEEE6B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Demo-ready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82879-FA97-4EB9-98D2-2918C4E8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جاهز للعروض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69E04-1303-4F04-B2D0-B1E7D635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19375"/>
            <a:ext cx="2333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3166B-835C-4B04-9B5D-5B54607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95C"/>
                </a:solidFill>
                <a:latin typeface="Aptos"/>
                <a:ea typeface="Aptos"/>
                <a:cs typeface="Aptos"/>
              </a:rPr>
              <a:t>2-3 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47190-50B8-4DE5-AE37-49286825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52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First pilots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4EA0A-7793-4CAB-B2F7-B1B22103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33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أول عملاء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9031C-DB55-46F8-90E3-F81AAEC0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2333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C0BDB-3F27-484A-9784-69F5C8F3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4-6 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4252A-34E1-4E5F-A837-6D160466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10 companies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1A43B-0345-453D-A51E-21BA9FE8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10 شركات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0298A-922C-454F-A38D-8BCA84E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333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E31B0-4907-46E1-A1D7-3B4813D4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57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95C"/>
                </a:solidFill>
                <a:latin typeface="Aptos"/>
                <a:ea typeface="Aptos"/>
                <a:cs typeface="Aptos"/>
              </a:rPr>
              <a:t>9-12 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64C25-018B-47D2-8AB9-17AE5A40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52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SaaS maturity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C3E07-111B-46B3-B5FF-31B8F678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33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نضج SaaS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05866-E4C5-4CCC-8EAC-6A3664EC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The product can be sold first as a managed pilot. Scaling needs QA, deployment, onboarding, and support discipline.</a:t>
            </a:r>
          </a:p>
        </p:txBody>
      </p:sp>
    </p:spTree>
    <p:extLst>
      <p:ext uri="{BB962C8B-B14F-4D97-AF65-F5344CB8AC3E}">
        <p14:creationId xmlns:p14="http://schemas.microsoft.com/office/powerpoint/2010/main" val="129405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90D146-6DD4-44FD-8CAC-DEB02238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02236-3779-4FE9-996E-6BA63C11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Commercialization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5FE26-ADFF-4DBB-BD96-0C820481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فريق التجهيز التجاري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F4CD8-BE55-4827-86A1-1898BD2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DD38B-2434-426E-A8F9-F4A30BB3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AA5A2-80DB-4328-87DC-B34F49E4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FDAFF-E502-4D66-902F-DEC1EA2B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9810750" cy="27432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91D73-915E-4902-A0AA-9D89B353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3AEA3-7F41-4B69-B356-9F30876B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B3616-C899-4A8E-B52B-22522A4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CB52A-C0F4-436A-AAF0-35C969AF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574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15BD2-6114-4C07-9D7F-68162519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6D0F2-4C8D-4146-BA7C-5C7471C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574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09338-1447-4FC7-A0B7-1B31CA0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9122A-BCC2-448B-8589-9956905A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Technical lead / architect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AC0C2-44CB-44D4-88FC-C5913ACE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98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3491F-0E11-4EFE-A32D-9C769ECB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050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8-12 yrs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FF669-5C2C-43C8-B396-9D3C684D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982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91E71-396F-4037-B486-75E1806A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050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Own architecture, quality, and delivery decisions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D5496-0791-41F1-B484-2A44C714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61A4B-616D-46CC-9C8F-62122946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.NET backend developer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FBBC7-B971-43DF-9E82-CA6CF16F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670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8A405-27C2-420A-A271-DA76D2C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622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4-8 yrs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F7F3C-E878-4254-9FC3-3A59A5E7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0B901-AB04-4A73-AD7D-FA1C617D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622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Stabilize APIs, services, and integrations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F06ED-B5A4-45C4-8D03-AB617E48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230D68-568C-4503-ABEF-A5950E81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Blazor/frontend developer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86C64-ABE2-4AE7-8CFA-EDC1B5D1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242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4CEB6A-0BF8-486F-9DE5-87325033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4-8 yrs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5BECB-1546-4679-B3DE-EA11D992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2422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26AE2F-053A-4B58-9DE6-FFF3C2A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194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Polish workflows and investor/customer demos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49E63F-0D11-4B61-AB35-6F1E2154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6069A0-6581-43E8-BE04-FCDD04C7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QA / UAT engineer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2B9089-C8C9-4168-A616-B6183757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111CC7-63C5-45DB-931C-D918F3FD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766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3-6 yrs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B5CB90-CD38-4B76-8DCC-6FE61333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8142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1D72F-F9AC-497C-83E5-1D23910B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766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Build repeatable test packs before launch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D1EA43-BD8B-403C-9820-49A8BDD7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EDEA5A-A3B6-40E7-9B02-E25D1773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DevOps + ERP analyst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ECA32D-2F53-4ECA-BE50-ADF0702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386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250B01-F2C4-4E27-972E-053EFD6A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33875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Senior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0146A3-AA43-40B1-B8AD-28FB1E8C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DB6AB4-9935-4AEF-9068-02D4E4E7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453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Hosting, rollout, requirements, and process mapping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8E64F8-01F7-4D50-AB8B-B38410CD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الفريق المثالي صغير لكنه خبير: قائد تقني، مطورو Backend وFrontend، QA، DevOps، ومحلل ERP.</a:t>
            </a:r>
          </a:p>
        </p:txBody>
      </p:sp>
    </p:spTree>
    <p:extLst>
      <p:ext uri="{BB962C8B-B14F-4D97-AF65-F5344CB8AC3E}">
        <p14:creationId xmlns:p14="http://schemas.microsoft.com/office/powerpoint/2010/main" val="1916124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783B1-0C2C-4898-AE6B-2823EA86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SAR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8E75D-1893-478B-BFBC-F4036D2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Commercialization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BE1DF-4189-4337-BEF3-1873CF25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ميزانية التجهيز التجاري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3E501-4D44-4C9B-B5D7-FAFF24B0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B0EB1-F664-477A-9B10-897505F8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B781A-5E29-40EE-BE4A-7A00638A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656FA-2A54-4E96-804C-66E0B5DE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3000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445B0-F569-4BED-B0E5-44622787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C3659-2B69-4ABA-9F6C-46CF1F49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47925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280k-470k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A9688-6E3A-42CC-9E46-62A8A701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2275"/>
            <a:ext cx="254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Lean launch / 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904B7-9D55-4527-B94E-E753E21C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254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فريق خفيف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EE5FF-77D2-495C-8AC0-6AD76203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3000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CDDD0-6BE8-4953-8483-0269886D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21B15-817B-42A4-AC0E-C7FAF209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47925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95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95C"/>
                </a:solidFill>
                <a:latin typeface="Aptos"/>
                <a:ea typeface="Aptos"/>
                <a:cs typeface="Aptos"/>
              </a:rPr>
              <a:t>560k-1.03M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26EED-5281-4935-9855-2EA1C30D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62275"/>
            <a:ext cx="254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Professional launch / SAR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414CF-32B6-403B-8BCA-044DDE87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90875"/>
            <a:ext cx="254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إطلاق احترافي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6D20B-061C-4F54-8EA1-FEABC16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3000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9AA11-DF8D-4909-911F-1584FD25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DEA3B-4AB4-4222-A38A-7893245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47925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6B4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6B4F"/>
                </a:solidFill>
                <a:latin typeface="Aptos"/>
                <a:ea typeface="Aptos"/>
                <a:cs typeface="Aptos"/>
              </a:rPr>
              <a:t>1.13M-1.88M+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87E13-F399-4EED-81E4-FE5746BC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62275"/>
            <a:ext cx="254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SaaS-ready launch / SAR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DE5B7-EBB4-485D-A89B-D7409F3E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90875"/>
            <a:ext cx="254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توسع قوي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FE440-933F-4DB0-9F57-6DA6F995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These are six-month estimates for product hardening, QA, rollout, and customer readiness.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27375-E661-42CF-BCE3-BE5332C4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كل الأرقام تقديرية بالريال السعودي وليست عرضا تعاقديا.</a:t>
            </a:r>
          </a:p>
        </p:txBody>
      </p:sp>
    </p:spTree>
    <p:extLst>
      <p:ext uri="{BB962C8B-B14F-4D97-AF65-F5344CB8AC3E}">
        <p14:creationId xmlns:p14="http://schemas.microsoft.com/office/powerpoint/2010/main" val="1452530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76EC9-43FB-45BF-8FED-390B70A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09278-D5BA-429C-9B7D-9147D01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Hosting Options For 10 Companies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2F203-898F-4501-B65F-BAEE0B59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خيارات الاستضافة لعشر شركات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0BC47-2D15-4374-85E1-967944A9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F67CC-B9FD-420E-B163-7854D14C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5DFD3-AC59-4E19-A394-6AE75287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DE9C7-4621-468E-97D4-29BB6D23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287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EE80C-AD03-4C21-A6C4-6A8A721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36E48-3863-4B58-A1DD-7ADD3516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F6A93-7A20-4A44-8A4B-3C503BD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0479D-0CED-4089-B7A6-3B62982B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0502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Monthly infra / 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CBF6A-3857-4560-A33D-05C069E9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002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42952-240D-49C2-8BD7-A8E455AC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050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Practical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CB984-3810-4367-BF30-5C00E389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15861-AB67-44F1-9628-F12EC7FC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Customer self-hosted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479B4-DC1E-4750-A1F8-58159C49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EF75E-383B-4E64-AA7A-0647B5A6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0 direct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CF911-D61C-4B5E-A76E-90340582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05BAE-E6D3-4216-B7F7-9691807E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Useful for early deals, but harder to support consistently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14C2F-96D5-436B-AD04-702D8BA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00DED-2F42-44AC-818E-2F540E50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SmarterASP shared / semi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17BCD7-4E4D-4435-BE39-8BF6D87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F32E3-41CA-4F39-BF25-B7A9BC5E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04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300-1,125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CBDE6-8230-4BDE-8145-4F9E10C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03E66D-3058-44D9-BDB3-E4A8C1F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0040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Low-cost demos and small customers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D2FD14-A567-47B8-B371-90F9221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FBEF0B-D136-4B46-9145-C68A2FB7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SmarterASP VPS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9B8C5-CC7A-4AF0-A017-4087942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408461-5197-48D0-AF65-16629070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750-3,000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B142C-1932-4ABA-AF72-52B42AFD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50328E-2E4D-4E19-AAAC-49478884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Practical early production option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06CA0D-D268-4A2B-88A8-2DC74C7B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02F44B-61CB-4BEA-A71F-7D2C5787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Azure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7A39A0-2050-4B58-97CE-E0B7A19A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D5FF85-7D4F-49FD-93BF-5BC4D763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2,625-9,375+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50D0F4-752F-423D-B02B-F2DA095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E3DFA1-A5B7-4806-BA86-3CDEC4B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Best credibility and scalability 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3F0EEC-0997-4301-AC59-1E4CBB0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Recommendation: begin with VPS/managed hosting for pilots, then move serious customers to Azure or dedicated VPS.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F800D9-46D0-4573-AF49-30AFD4E2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ابدأ باستضافة عملية للطيارين، ثم انقل العملاء الجادين إلى Azure أو VPS مخصص.</a:t>
            </a:r>
          </a:p>
        </p:txBody>
      </p:sp>
    </p:spTree>
    <p:extLst>
      <p:ext uri="{BB962C8B-B14F-4D97-AF65-F5344CB8AC3E}">
        <p14:creationId xmlns:p14="http://schemas.microsoft.com/office/powerpoint/2010/main" val="1267304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7A8BB5-88AC-4192-B4FC-84C154BF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D576E-93AC-4E70-AC4D-6B38B92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Saudi Revenue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8F4B4-A886-4D7E-928D-0C290F56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إيرادات السوق السعودي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3963B-1964-4106-92A0-3FF5D686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0C84A-6E69-4481-B5C6-53314FD1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2052E-AB36-4FAC-A441-38766CB7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3EB72-B63A-469C-8292-56D89903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0239375" cy="190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145A5-8F28-426D-84F1-4ED442F4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CF55C-1C2C-4128-AD9B-29B5B0CD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BEA4C-4C7D-4F0C-AEEB-407C496C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16034-A58A-4DED-A398-ACD2EE7B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574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9011D-60E7-49F5-815B-C8E991EC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2E90F-EC82-4766-9EBA-9DF8AE82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5740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1A340-1CB2-4A2F-A64A-43FFE9AB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02223-E897-4134-AC41-1D8FB03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5740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79BAF-8F4E-4BFD-82E9-523F9830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32A79-A6A7-41CB-B743-912DA088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57400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337BD-B446-4A4E-9F28-A3FF70DF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18C4F-D6F4-4945-A664-8AF9629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Conservative - 10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DB5B7-BD27-456B-A3E3-E24B70D9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2843E-8406-4C9C-8422-F686587F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241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15k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A745C-C662-4C16-985F-13FCCB98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0C745-5FCC-4AF9-9017-FC420695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241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180k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662DD-3166-4C27-8CFA-02F09AA4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AF4796-55AC-4731-BFDD-1386C60B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120k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D782A-1187-4A6C-BAED-48D88A4F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7B344-7529-405C-8A1C-61F4FE54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24125"/>
            <a:ext cx="2009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300k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5DD55-4F69-41AA-8D64-5561003B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21EF0-537D-401A-A436-583458D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Base - 10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82B44D-1A56-4F5E-9AE8-FB27EFA6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90879D-9FF1-4FDD-8204-F98BC4E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35k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BC7972-704C-449C-BB75-1B0EC466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AF73C-B4AE-4643-BF07-DEE4BC54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03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420k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C7388E-D496-4616-8740-D3567D66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7E0766-0C41-42CD-90D5-2206EE5E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037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250k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15CA4-8572-4D75-BC96-F48FE802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B20E91-C76D-479C-BB43-E9385B8B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009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670k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C4001A-41DB-4A26-B488-97FE4EB2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BFC41E-4F1F-4C92-8A75-9270E28A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Strong - 10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B1D21A-FA96-4AA1-B44F-67DCFBEE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813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3A40A5-369D-41A1-AE52-A7302D34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766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75k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8D2641-06EB-4A2F-8E26-5431DC6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493089-6AD2-46BF-A3C2-F72F504E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7662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900k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FE163C-1F5A-4DCD-AFF9-CC6EDBBB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89D539-7FA1-44E4-93F7-BAB36508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76625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600k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10B9F3-5260-49A6-B191-4C9E7A24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C6F703-61F9-49A5-A5C1-7588B430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76625"/>
            <a:ext cx="2009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SAR 1.5M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54E353-0637-4582-B4FC-F5E1E14B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25 customers / Base ARR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8E2298-B207-4455-BB8E-E6763CA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8EBFF0-0955-4429-8DCA-FC5FF15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644873-A4A8-4CE8-868A-EDD2E6CF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148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1.05M SAR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DF5DAC-AA15-40D4-837D-FB1C13C3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529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50 customers / Base ARR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62C1AD-AC93-464F-9039-2EAB6634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3CA397-9C53-4559-8DE5-A6F2F3C8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C69005-8095-4FC9-A434-4B3AD702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33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2.1M SAR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4629C4-D4DB-435F-9F6E-88A12EF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100 customers / Base ARR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1FB74F-F117-49A4-B9C9-C30F0CF0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69B066-31DE-435F-AD65-A013C29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C6CD5C-3DA0-4924-909D-B630DA84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530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B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6B4F"/>
                </a:solidFill>
                <a:latin typeface="Aptos"/>
                <a:ea typeface="Aptos"/>
                <a:cs typeface="Aptos"/>
              </a:rPr>
              <a:t>4.2M SAR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C337AD-CDFF-4F1D-87C9-E0911958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Target assumption: Saudi SMEs with 20-100 employees, monthly subscription plus setup fees.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BD287E-E95F-4596-BEAF-FF3473BC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340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الافتراض: شركات سعودية صغيرة ومتوسطة، اشتراك شهري مع رسوم تنفيذ منفصلة.</a:t>
            </a:r>
          </a:p>
        </p:txBody>
      </p:sp>
    </p:spTree>
    <p:extLst>
      <p:ext uri="{BB962C8B-B14F-4D97-AF65-F5344CB8AC3E}">
        <p14:creationId xmlns:p14="http://schemas.microsoft.com/office/powerpoint/2010/main" val="7310291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627C7-7C9F-41A1-842E-6B07640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REPLACEMENT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6445B-CD71-4C5F-B927-B589552C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Build Effort And Replacement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944DD-CD64-41ED-AF38-DA1C5619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جهد البناء وتكلفة الاستبدال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7CDAA-59D3-4166-B116-77DE3916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8DFDF-B548-4F10-80B7-144263C7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F2EFE-CA17-41EC-A1BB-E3604693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483FE-A9C6-4DB9-80E3-DEDCCCC4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ECF61-CBD5-49DF-84AB-E818D6D3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2C4BD-9C62-4BFB-B3BC-A70C620A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18-30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23A70-B469-4BFA-AE6D-A793BB9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146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Months to marketable ERP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6580E-E1A6-4AE2-864A-8EFDE9E6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شهرا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A239F-6167-48B4-8087-6225421C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E18F7-BFBC-4A53-A1A2-89A3037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BAEBA-8F1B-44D1-9519-547BFC93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95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95C"/>
                </a:solidFill>
                <a:latin typeface="Aptos"/>
                <a:ea typeface="Aptos"/>
                <a:cs typeface="Aptos"/>
              </a:rPr>
              <a:t>7-9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AE23D-C74F-47C2-91E0-84468AFF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146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Roles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9E77B-CE30-4490-A302-F2B13096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432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أدوار مطلوبة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19589-A8A9-407B-978E-9BE0890A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941DC-F058-404E-8ACF-266FA3EA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85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7E5D6-3A58-4D5A-B4D1-C974A7D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03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6B4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6B4F"/>
                </a:solidFill>
                <a:latin typeface="Aptos"/>
                <a:ea typeface="Aptos"/>
                <a:cs typeface="Aptos"/>
              </a:rPr>
              <a:t>2.5M-6M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BCB82-C2A0-4BC6-8DA4-987B7CFF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Estimated SAR build cost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2E849-FCDD-40E2-868A-9F1FD91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ريال تكلفة تقديرية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E91943-474B-4C0D-859A-E3013983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17526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26535-744C-49C1-8272-F68E14D1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C6A2E-062B-4E97-9959-27F81DDC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005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2C6665-9A31-4D29-8117-0F426427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957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D6E04-71B0-45EF-9331-FFB5CE6E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005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C685CA-C7B8-4ADA-A60A-4CBE5CAF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18D41-88E5-4178-B526-2FD6149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0052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role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D6632-7655-46D8-B09B-925408CB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ABCB2-FF39-4E6B-AB7B-491EEC0F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Architect / technical lead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812B39-F24C-46E2-9851-144D0DB0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339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D0063B-54D1-457F-862B-6E76B5A4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Senior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30B25E-6A49-43D5-84F6-4E27A79B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D5C904-8450-4E33-B134-8EFF0B2F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Architecture, quality, and technical decisions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AD8B05-2D80-418E-A76C-67367D7A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68773-692F-4024-9F53-0ADDB38D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Backend + frontend + QA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FAB0C2-A961-47AE-B48E-4FF47504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720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055170-B590-433B-8B60-5E7F7E3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673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Mid-Senior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85B119-1D9C-4C2D-980B-188C2815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F3FD28-1C2D-467C-8862-BE22DEE7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Modules, UI, and test coverage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E3DE13-AF64-4D33-8391-096892BB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6005DC-8FC1-467E-B4D2-C1480069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054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DevOps + ERP analyst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BDA3E5-D99A-4511-97CB-6C05A70F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102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855AB4-3533-4323-9D94-60478C46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054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Senior/Consultant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4616DC-42BA-46FD-9595-3E055E0E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476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0341D5-278E-4DD2-8F83-E99C316D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054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Deployment, requirements, workflows</a:t>
            </a:r>
          </a:p>
        </p:txBody>
      </p:sp>
    </p:spTree>
    <p:extLst>
      <p:ext uri="{BB962C8B-B14F-4D97-AF65-F5344CB8AC3E}">
        <p14:creationId xmlns:p14="http://schemas.microsoft.com/office/powerpoint/2010/main" val="12229712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4DBD91-D35A-4051-9D0A-39500F7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COMMERCIAL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5E6E1-1616-44C3-9445-C176A502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Go-To-Market 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7E7D2-D913-4B71-9C32-E40DBE88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مسار البيع والتوسع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0684A-F310-45F8-81E2-DAEEA32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887AD-1EA8-4116-A00C-D132E92B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8ADD3-76F5-45B8-85CA-3A241B9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F8C3E-A3A5-4CB2-89EC-E9B44425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0F552-2C24-4C7C-A084-12AA22F6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ED5FB-8385-4A53-8CCD-E5ED22AF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Managed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46A7E-6134-4206-8F43-42C0AAB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1-2 companies with direct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9DE12-CA09-474F-AA22-CE7F22A4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طيار مضبوط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19982-FB4D-4EAE-A0F1-42B303E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31982-E71C-46F5-B6AC-EA473DC7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193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95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395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CA664-6E06-4400-8DF8-F7C9071B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48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Repeatable package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00CE5-8D80-47C2-A83A-480CEA4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766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Pricing, onboarding, hosting, UAT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F1877-660C-4D88-A1E4-A0012A1C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30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حزمة قابلة للتكرار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67781-42F7-4983-885E-C6E8B608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641FF-55D4-4AE6-AF55-97CB5BE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8BF2C-2C87-4B28-B37C-31DF1A0F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Scale to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B3080-B06E-46CB-8141-563816EC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Implementation templates and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B0065-A124-4DCD-A36C-CB9357C3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توسع إلى 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29AC7-161A-44ED-A8CA-771718D8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9075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75FB8-F364-4ACF-AF6E-26C4211C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193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06B4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06B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32CEC-64FE-448D-9347-B6C4246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48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Scale to 50+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5E9A0-16C7-4592-A5EE-DF1DC00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766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Partner channel and vertical packages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4F195-E8D5-4B00-A468-842E387C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30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توسع إلى 50+</a:t>
            </a:r>
          </a:p>
        </p:txBody>
      </p:sp>
    </p:spTree>
    <p:extLst>
      <p:ext uri="{BB962C8B-B14F-4D97-AF65-F5344CB8AC3E}">
        <p14:creationId xmlns:p14="http://schemas.microsoft.com/office/powerpoint/2010/main" val="10026310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D372E7-00F9-434E-93C8-C6C46C76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D29CD-7624-4133-A259-0ED92A2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Partnership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1F830-6C68-4DBE-90BC-575EE421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طلب الشراكة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E0776-CB76-4CB5-84B0-41FA3C94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76068-4C9A-4D4B-B513-09A21CF1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DEC77-9B3D-45E8-8EB0-48D74F6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D7DF6-8E4A-47C5-92DD-6BC773F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0697A-4CD8-4598-A04F-C146FD97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3FBA4-9F59-4052-A4F3-A3578747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Product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3F17A-4C48-4BAC-A8EB-E432EB48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جاهزية المنتج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F5304-DCB9-4C0B-A5DD-217596A0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QA, critical workflows, production packaging, documentation.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392BA-5A96-487A-86FB-615FE35F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اختبار، تثبيت المسارات، وتجهيز الإنتاج.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60C21-D70C-4BA9-81BD-5737D202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F684F-7BDC-4ABE-BAA7-DBD7828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EDAED-95B2-4F64-8D55-646FD89D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76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Commercial rollout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BDD46-69D5-4E55-91D3-6362E3BC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0032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التوسع التجاري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80258-1AE4-43AF-8D78-1E0F8143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622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Demo data, onboarding playbooks, customer setup, support capability.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FE3C8-47FA-407C-8A95-956C5882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8385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بيانات عرض، إعداد العملاء، وفريق دعم.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89E78-E40A-410B-82DF-7402522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47875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4650F-FF3B-495D-B1BF-DE259D1A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47875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D631A-F63A-41A4-B227-3286F6DD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76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4F90D-30FF-4866-89DD-C73B0240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032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البنية التشغيلية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62C1A-2897-48F8-8D10-BD0EAC99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622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Hosting, backup, monitoring, deployment, and scalable support model.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289A4-975D-4473-B532-EA252C9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385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7C"/>
                </a:solidFill>
                <a:latin typeface="Arial"/>
                <a:ea typeface="Arial"/>
                <a:cs typeface="Arial"/>
              </a:rPr>
              <a:t>استضافة، نسخ احتياطي، مراقبة، ونشر.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CB10E-210F-4DA7-A645-BCD0456F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Investor logic: the asset exists; funding reduces commercialization risk and accelerates the first 10 customers.</a:t>
            </a:r>
          </a:p>
        </p:txBody>
      </p:sp>
    </p:spTree>
    <p:extLst>
      <p:ext uri="{BB962C8B-B14F-4D97-AF65-F5344CB8AC3E}">
        <p14:creationId xmlns:p14="http://schemas.microsoft.com/office/powerpoint/2010/main" val="1735971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6AF5A-593D-4172-A470-AA6DB7E3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8C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8C82"/>
                </a:solidFill>
                <a:latin typeface="Aptos"/>
                <a:ea typeface="Aptos"/>
                <a:cs typeface="Aptos"/>
              </a:rPr>
              <a:t>INVESTOR COMFORT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E6EEB-AD6D-4B85-9A13-F0FC1BD8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D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1D31"/>
                </a:solidFill>
                <a:latin typeface="Aptos"/>
                <a:ea typeface="Aptos"/>
                <a:cs typeface="Aptos"/>
              </a:rPr>
              <a:t>Risk And Mitigation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7FFE3-5647-4359-B9A7-CE6D7CD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81050"/>
            <a:ext cx="508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739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95C"/>
                </a:solidFill>
                <a:latin typeface="Arial"/>
                <a:ea typeface="Arial"/>
                <a:cs typeface="Arial"/>
              </a:rPr>
              <a:t>المخاطر والتخفيف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ACDAC-5CD1-46B5-989B-903E98E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7B692-35D4-495E-8ED0-008F1ACC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A377F-5C3E-434B-8549-E4B9DC91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5B32C-37A0-4115-A779-7A0C9605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38225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13C0E-9D48-4412-9F46-C3489112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C3353-CDC7-4FEF-8B73-A155B586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5C618-EA81-4EF8-827E-9CF87041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37DA2-D0EF-48CC-A125-CFB380E6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050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52969-FABF-4C8B-A8A9-749974B9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CF09C-3364-4E67-8811-44A1C04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050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Investor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CF07A-8C9E-4166-9217-C0B57FEF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A90C1-0D1D-4185-A9FF-E1D9DE8B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Limited automated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57991-ABC1-43B5-8AAD-EACAAC5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9F3C9-2885-4536-9DA5-AE32A949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479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Focused QA/UAT sprint before rollout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2F36E-6FD1-4E42-A5CC-307A3C73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B60DC-922D-4D80-A442-AB7624B8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Cleaner first-customer 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44610-FC16-4E50-AB81-BC12EBFC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A2466-C600-42FE-8DAF-FB1ADFAB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Support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72BE4-1166-433E-AC3D-5C544963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1CD85-60F5-411D-9E70-C4DE0F03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Implementation playbooks and SLA tiers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D0185-FE91-41E4-8DF3-78F20EEA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7B68F1-4314-4B11-884E-CC38DD9E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004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Predictable operating cost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15391-E43D-47ED-860C-29A00A0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FEE02-B427-4F60-9E2E-35F84349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Hosting complexity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7E17F-E17F-41EB-9CA4-756B4FED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576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B5E78-EEB0-4D26-A46D-1993B469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Standard VPS/Azure deployment patterns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EB17A0-4074-4B58-B8D4-46F2B47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FD3140-E266-4716-A5D2-0CC67098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Repeatable onboarding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1BFA26-444B-4983-B778-298B9A32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310ACD-D740-4686-B81D-CCC90C46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Sales 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6EE950-8F24-404C-BD04-F2255BA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0B59D3-FE81-4AA0-9F42-DC0C2B88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053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Start with controlled Saudi SME pilots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5C9B9-61E8-4FD6-9397-4ECA6767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8D0158-FD63-433D-9E57-9CCA3C6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05300"/>
            <a:ext cx="3486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Fast learning before scale</a:t>
            </a:r>
          </a:p>
        </p:txBody>
      </p:sp>
    </p:spTree>
    <p:extLst>
      <p:ext uri="{BB962C8B-B14F-4D97-AF65-F5344CB8AC3E}">
        <p14:creationId xmlns:p14="http://schemas.microsoft.com/office/powerpoint/2010/main" val="4094265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b43f81ba74964"/>
          <a:srcRect xmlns:a="http://schemas.openxmlformats.org/drawingml/2006/main" l="363" t="0" r="3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904875"/>
            <a:ext cx="3143250" cy="44767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6637A-F2D7-48F6-8471-A9C71B45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BF665-DB9E-4422-8A99-928C6CF4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9F877-FCF1-40C4-BECE-3E09EC26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BFEDE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FEDE8"/>
                </a:solidFill>
                <a:latin typeface="Arial"/>
                <a:ea typeface="Arial"/>
                <a:cs typeface="Arial"/>
              </a:rPr>
              <a:t>الخلاصة الاستثمارية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3F25E-8F58-47D3-B7FE-5A079F5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28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 are not asking for funding to build an ERP from zero. We are seeking partnership to commercialize an already-built ERP into a market-ready Saudi SME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55937-A1D8-4C12-8AFD-1D51626F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CEAF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AF5"/>
                </a:solidFill>
                <a:latin typeface="Arial"/>
                <a:ea typeface="Arial"/>
                <a:cs typeface="Arial"/>
              </a:rPr>
              <a:t>نطلب شراكة لتحويل منصة مبنية فعليا إلى منتج جاهز للبيع، مدعوم بالاختبار والتشغيل والاستضافة وأول العملاء.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294FB-348B-4E36-B873-3C88623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3D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3D7"/>
                </a:solidFill>
                <a:latin typeface="Aptos"/>
                <a:ea typeface="Aptos"/>
                <a:cs typeface="Aptos"/>
              </a:rPr>
              <a:t>Sources: local repository inspection/build result, UAT assets, SmarterASP/Azure pricing references, and Odoo/Frappe pricing anchors. Financial values are planning estimates in SAR.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194C4-2B04-4F0F-A1B7-49D761BA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AlAfkar ERP | Investor Partnership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4ED50-CE4C-4322-BB68-0827210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42010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2026-06-25T13:36:10.7120000Z</dcterms:created>
  <dcterms:modified xsi:type="dcterms:W3CDTF">2026-06-25T13:36:10.7120000Z</dcterms:modified>
</coreProperties>
</file>